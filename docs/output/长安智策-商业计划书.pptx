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2.xml" ContentType="application/vnd.openxmlformats-officedocument.them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charts/chart2.xml" ContentType="application/vnd.openxmlformats-officedocument.drawingml.char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slides/charts/chart1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2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7" Type="http://schemas.openxmlformats.org/officeDocument/2006/relationships/slide" Target="slides/slide17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24" Type="http://schemas.openxmlformats.org/officeDocument/2006/relationships/presProps" Target="presProps.xml" /><Relationship Id="rId13" Type="http://schemas.openxmlformats.org/officeDocument/2006/relationships/slide" Target="slides/slide13.xml" /><Relationship Id="rId7" Type="http://schemas.openxmlformats.org/officeDocument/2006/relationships/slide" Target="slides/slide7.xml" /><Relationship Id="rId15" Type="http://schemas.openxmlformats.org/officeDocument/2006/relationships/slide" Target="slides/slide15.xml" /><Relationship Id="rId26" Type="http://schemas.openxmlformats.org/officeDocument/2006/relationships/viewProps" Target="viewProps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chart" Target="charts/chart1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chart" Target="charts/chart2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charts/chart1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西安本地 3 年可触达市场（亿元，具体按实际填写）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亿元</c:v>
                </c:pt>
              </c:strCache>
            </c:strRef>
          </c:tx>
          <c:spPr>
            <a:solidFill>
              <a:srgbClr val="001965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4"/>
                <c:pt idx="0">
                  <c:v>政府治理</c:v>
                </c:pt>
                <c:pt idx="1">
                  <c:v>企业服务</c:v>
                </c:pt>
                <c:pt idx="2">
                  <c:v>小微商户</c:v>
                </c:pt>
                <c:pt idx="3">
                  <c:v>市民文旅</c:v>
                </c:pt>
              </c:strCache>
            </c:strRef>
          </c:cat>
          <c:val>
            <c:numRe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dispBlanksAs val="gap"/>
  </c:chart>
</c:chartSpace>
</file>

<file path=ppt/slides/charts/chart2.xml><?xml version="1.0" encoding="utf-8"?>
<c:chartSpace xmlns:a="http://schemas.openxmlformats.org/drawingml/2006/main" xmlns:c="http://schemas.openxmlformats.org/drawingml/2006/chart">
  <c:chart>
    <c:title>
      <c:tx>
        <c:rich>
          <a:bodyPr/>
          <a:p>
            <a:pPr>
              <a:defRPr sz="1350">
                <a:solidFill>
                  <a:srgbClr val="061F32"/>
                </a:solidFill>
              </a:defRPr>
            </a:pPr>
            <a:r>
              <a:rPr sz="1350">
                <a:solidFill>
                  <a:srgbClr val="061F32"/>
                </a:solidFill>
              </a:rPr>
              <a:t>三年营收与净利润（万元，具体按实际填写）</a:t>
            </a:r>
          </a:p>
        </c:rich>
      </c:tx>
      <c:overlay val="0"/>
      <c:spPr>
        <a:noFill/>
        <a:ln>
          <a:noFill/>
        </a:ln>
        <a:effectLst/>
      </c:spPr>
      <c:txPr>
        <a:bodyPr/>
        <a:p>
          <a:pPr>
            <a:defRPr sz="1350">
              <a:solidFill>
                <a:srgbClr val="061F32"/>
              </a:solidFill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营收</c:v>
                </c:pt>
              </c:strCache>
            </c:strRef>
          </c:tx>
          <c:spPr>
            <a:solidFill>
              <a:srgbClr val="001965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800</c:v>
                </c:pt>
                <c:pt idx="1">
                  <c:v>3000</c:v>
                </c:pt>
                <c:pt idx="2">
                  <c:v>6500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净利润</c:v>
                </c:pt>
              </c:strCache>
            </c:strRef>
          </c:tx>
          <c:spPr>
            <a:solidFill>
              <a:srgbClr val="08A6F6"/>
            </a:solidFill>
          </c:spPr>
          <c:dLbls>
            <c:txPr>
              <a:bodyPr/>
              <a:p>
                <a:pPr>
                  <a:defRPr sz="750">
                    <a:solidFill>
                      <a:srgbClr val="061F32"/>
                    </a:solidFill>
                  </a:defRPr>
                </a:pPr>
              </a:p>
            </c:txPr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strCache>
                <c:ptCount val="3"/>
                <c:pt idx="0">
                  <c:v>第1年</c:v>
                </c:pt>
                <c:pt idx="1">
                  <c:v>第2年</c:v>
                </c:pt>
                <c:pt idx="2">
                  <c:v>第3年</c:v>
                </c:pt>
              </c:strCache>
            </c:strRef>
          </c:cat>
          <c:val>
            <c:numRef>
              <c:numCache>
                <c:formatCode>General</c:formatCode>
                <c:ptCount val="3"/>
                <c:pt idx="0">
                  <c:v>-400</c:v>
                </c:pt>
                <c:pt idx="1">
                  <c:v>100</c:v>
                </c:pt>
                <c:pt idx="2">
                  <c:v>900</c:v>
                </c:pt>
              </c:numCache>
            </c:numRef>
          </c:val>
        </c:ser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2"/>
      </c:catAx>
      <c:valAx>
        <c:axId val="89736802"/>
        <c:scaling>
          <c:orientation val="minMax"/>
        </c:scaling>
        <c:delete val="0"/>
        <c:axPos val="l"/>
        <c:majorGridlines>
          <c:spPr>
            <a:noFill/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p>
            <a:pPr>
              <a:defRPr sz="900">
                <a:solidFill>
                  <a:srgbClr val="808080"/>
                </a:solidFill>
              </a:defRPr>
            </a:pPr>
          </a:p>
        </c:txPr>
        <c:crossAx val="89736801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p>
          <a:pPr>
            <a:defRPr sz="900">
              <a:solidFill>
                <a:srgbClr val="44546A"/>
              </a:solidFill>
            </a:defRPr>
          </a:pPr>
        </a:p>
      </c:txPr>
    </c:legend>
    <c:dispBlanksAs val="gap"/>
  </c:chart>
</c:chartSpace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#061F32', padding: '64px 64px 52px' }}&gt;&#10;  &lt;Box style={{ flex: 1, justifyContent: 'center' }}&gt;&#10;    &lt;Text style={{ fontSize: 15, color: '#08A6F6', letterSpacing: 5, marginBottom: 24 }}&gt;商 业 计 划 书 · BUSINESS PLAN&lt;/Text&gt;&#10;    &lt;Text style={{ fontSize: 88, fontWeight: 'bold', color: '#FFFFFF', letterSpacing: 6, lineHeight: 1.05 }}&gt;长安智策&lt;/Text&gt;&#10;    &lt;Text style={{ fontSize: 30, color: '#99BDED', marginTop: 18, letterSpacing: 2 }}&gt;西安城市决策空间智能平台&lt;/Text&gt;&#10;    &lt;Text style={{ fontSize: 17, color: '#5f7a99', marginTop: 10, letterSpacing: 1 }}&gt;CHANG'AN ZHICE · Urban Spatial Decision Intelligence&lt;/Text&gt;&#10;  &lt;/Box&gt;&#10;  &lt;Box style={{ flexDirection: 'row', justifyContent: 'space-between', alignItems: 'flex-end', borderTop: '1px solid rgba(255,255,255,0.18)', paddingTop: 20 }}&gt;&#10;    &lt;Box&gt;&#10;      &lt;Text style={{ fontSize: 16, color: '#99BDED', lineHeight: 1.7 }}&gt;融资路演 · 立项申报（双重用途）&lt;/Text&gt;&#10;      &lt;Text style={{ fontSize: 13, color: '#5f7a99', lineHeight: 1.7 }}&gt;锚定西安本地 · 匹配已落地 99 项原型 · 商业机密仅供授权方审阅&lt;/Text&gt;&#10;    &lt;/Box&gt;&#10;    &lt;Text style={{ fontSize: 17, color: '#99BDED' }}&gt;2026-09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375">
                <a:solidFill>
                  <a:srgbClr val="08A6F6"/>
                </a:solidFill>
                <a:latin typeface="Microsoft YaHei"/>
                <a:ea typeface="Microsoft YaHei"/>
              </a:rPr>
              <a:t>商</a:t>
            </a: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 </a:t>
            </a:r>
            <a:r>
              <a:rPr lang="zh-CN" sz="1125" spc="375">
                <a:solidFill>
                  <a:srgbClr val="08A6F6"/>
                </a:solidFill>
                <a:latin typeface="Microsoft YaHei"/>
                <a:ea typeface="Microsoft YaHei"/>
              </a:rPr>
              <a:t>业</a:t>
            </a: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 </a:t>
            </a:r>
            <a:r>
              <a:rPr lang="zh-CN" sz="1125" spc="375">
                <a:solidFill>
                  <a:srgbClr val="08A6F6"/>
                </a:solidFill>
                <a:latin typeface="Microsoft YaHei"/>
                <a:ea typeface="Microsoft YaHei"/>
              </a:rPr>
              <a:t>计</a:t>
            </a: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 </a:t>
            </a:r>
            <a:r>
              <a:rPr lang="zh-CN" sz="1125" spc="375">
                <a:solidFill>
                  <a:srgbClr val="08A6F6"/>
                </a:solidFill>
                <a:latin typeface="Microsoft YaHei"/>
                <a:ea typeface="Microsoft YaHei"/>
              </a:rPr>
              <a:t>划</a:t>
            </a: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 </a:t>
            </a:r>
            <a:r>
              <a:rPr lang="zh-CN" sz="1125" spc="375">
                <a:solidFill>
                  <a:srgbClr val="08A6F6"/>
                </a:solidFill>
                <a:latin typeface="Microsoft YaHei"/>
                <a:ea typeface="Microsoft YaHei"/>
              </a:rPr>
              <a:t>书</a:t>
            </a: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 · BUSINESS PLAN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2371725"/>
            <a:ext cx="10972800" cy="10572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zh-CN" sz="6600" b="1" spc="450">
                <a:solidFill>
                  <a:srgbClr val="FFFFFF"/>
                </a:solidFill>
                <a:latin typeface="Microsoft YaHei"/>
                <a:ea typeface="Microsoft YaHei"/>
              </a:rPr>
              <a:t>长安智策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3600450"/>
            <a:ext cx="10972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150">
                <a:solidFill>
                  <a:srgbClr val="99BDED"/>
                </a:solidFill>
                <a:latin typeface="Microsoft YaHei"/>
                <a:ea typeface="Microsoft YaHei"/>
              </a:rPr>
              <a:t>西安城市决策空间智能平台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4038600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5F7A99"/>
                </a:solidFill>
                <a:latin typeface="Microsoft YaHei"/>
                <a:ea typeface="Microsoft YaHei"/>
              </a:rPr>
              <a:t>CHANG'AN ZHICE · Urban Spatial Decision Intelligence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5591175"/>
            <a:ext cx="10972800" cy="781050"/>
          </a:xfrm>
          <a:custGeom>
            <a:pathLst>
              <a:path w="1152" h="82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5791200"/>
            <a:ext cx="35242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99BDED"/>
                </a:solidFill>
                <a:latin typeface="Microsoft YaHei"/>
                <a:ea typeface="Microsoft YaHei"/>
              </a:rPr>
              <a:t>融资路演</a:t>
            </a:r>
            <a:r>
              <a:rPr lang="en-US" sz="1200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99BDED"/>
                </a:solidFill>
                <a:latin typeface="Microsoft YaHei"/>
                <a:ea typeface="Microsoft YaHei"/>
              </a:rPr>
              <a:t>立项申报（双重用途）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6105525"/>
            <a:ext cx="3524250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5F7A99"/>
                </a:solidFill>
                <a:latin typeface="Microsoft YaHei"/>
                <a:ea typeface="Microsoft YaHei"/>
              </a:rPr>
              <a:t>锚定西安本地</a:t>
            </a:r>
            <a:r>
              <a:rPr lang="en-US" sz="975">
                <a:solidFill>
                  <a:srgbClr val="5F7A9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F7A99"/>
                </a:solidFill>
                <a:latin typeface="Microsoft YaHei"/>
                <a:ea typeface="Microsoft YaHei"/>
              </a:rPr>
              <a:t>匹配已落地</a:t>
            </a:r>
            <a:r>
              <a:rPr lang="en-US" sz="975">
                <a:solidFill>
                  <a:srgbClr val="5F7A99"/>
                </a:solidFill>
                <a:latin typeface="Microsoft YaHei"/>
                <a:ea typeface="Microsoft YaHei"/>
              </a:rPr>
              <a:t> 99 </a:t>
            </a:r>
            <a:r>
              <a:rPr lang="zh-CN" sz="975">
                <a:solidFill>
                  <a:srgbClr val="5F7A99"/>
                </a:solidFill>
                <a:latin typeface="Microsoft YaHei"/>
                <a:ea typeface="Microsoft YaHei"/>
              </a:rPr>
              <a:t>项原型</a:t>
            </a:r>
            <a:r>
              <a:rPr lang="en-US" sz="975">
                <a:solidFill>
                  <a:srgbClr val="5F7A99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5F7A99"/>
                </a:solidFill>
                <a:latin typeface="Microsoft YaHei"/>
                <a:ea typeface="Microsoft YaHei"/>
              </a:rPr>
              <a:t>商业机密仅供授权方审阅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10934700" y="61626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9BDED"/>
                </a:solidFill>
                <a:latin typeface="Microsoft YaHei"/>
                <a:ea typeface="Microsoft YaHei"/>
              </a:rPr>
              <a:t>2026-09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style={{ background: '#FFFFFF', padding: '56px 60px 44px' }}&gt;&#10;  &lt;Text style={{ fontSize: 34, fontWeight: 'bold', color: '#061F32' }}&gt;目录&lt;/Text&gt;&#10;  &lt;Text style={{ fontSize: 15, color: '#808080', letterSpacing: 3, marginTop: 4 }}&gt;CONTENTS&lt;/Text&gt;&#10;  &lt;Box style={{ height: 1, background: '#061F32', marginTop: 16, marginBottom: 28 }} /&gt;&#10;  &lt;Box style={{ flexDirection: 'row', flex: 1, gap: 36 }}&gt;&#10;    &lt;Box style={{ flex: 1, justifyContent: 'space-between' }}&gt;&#10;      &lt;Box&gt;&#10;        &lt;Text style={{ fontSize: 44, fontWeight: 'bold', color: '#001965', lineHeight: 1 }}&gt;01&lt;/Text&gt;&#10;        &lt;Text style={{ fontSize: 21, fontWeight: 'bold', color: '#061F32', marginTop: 8 }}&gt;市场机会&lt;/Text&gt;&#10;        &lt;Text style={{ fontSize: 14, color: '#44546A', lineHeight: 2, marginTop: 8 }}&gt;执行摘要{'\n'}项目背景与需求{'\n'}市场分析与竞争格局&lt;/Text&gt;&#10;      &lt;/Box&gt;&#10;      &lt;Box&gt;&#10;        &lt;Text style={{ fontSize: 44, fontWeight: 'bold', color: '#001965', lineHeight: 1 }}&gt;02&lt;/Text&gt;&#10;        &lt;Text style={{ fontSize: 21, fontWeight: 'bold', color: '#061F32', marginTop: 8 }}&gt;产品与方案&lt;/Text&gt;&#10;        &lt;Text style={{ fontSize: 14, color: '#44546A', lineHeight: 2, marginTop: 8 }}&gt;全场景应用方案{'\n'}产品与技术体系{'\n'}核心创新亮点&lt;/Text&gt;&#10;      &lt;/Box&gt;&#10;    &lt;/Box&gt;&#10;    &lt;Box style={{ flex: 1, justifyContent: 'space-between' }}&gt;&#10;      &lt;Box&gt;&#10;        &lt;Text style={{ fontSize: 44, fontWeight: 'bold', color: '#001965', lineHeight: 1 }}&gt;03&lt;/Text&gt;&#10;        &lt;Text style={{ fontSize: 21, fontWeight: 'bold', color: '#061F32', marginTop: 8 }}&gt;商业与扩张&lt;/Text&gt;&#10;        &lt;Text style={{ fontSize: 14, color: '#44546A', lineHeight: 2, marginTop: 8 }}&gt;商业模式与盈利体系{'\n'}可复制性与扩张能力&lt;/Text&gt;&#10;      &lt;/Box&gt;&#10;      &lt;Box&gt;&#10;        &lt;Text style={{ fontSize: 44, fontWeight: 'bold', color: '#001965', lineHeight: 1 }}&gt;04&lt;/Text&gt;&#10;        &lt;Text style={{ fontSize: 21, fontWeight: 'bold', color: '#061F32', marginTop: 8 }}&gt;财务与规划&lt;/Text&gt;&#10;        &lt;Text style={{ fontSize: 14, color: '#44546A', lineHeight: 2, marginTop: 8 }}&gt;落地实施 · 应用成效{'\n'}财务预测 · 风险应对&lt;/Text&gt;&#10;      &lt;/Box&gt;&#10;    &lt;/Box&gt;&#10;  &lt;/Box&gt;&#10;  &lt;Box style={{ flexDirection: 'row', justifyContent: 'space-between', marginTop: 20 }}&gt;&#10;    &lt;Text style={{ fontSize: 13, color: '#808080' }}&gt;长安智策 · 西安城市决策空间智能平台&lt;/Text&gt;&#10;    &lt;Text style={{ fontSize: 14, color: '#808080' }}&gt;2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61F32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71500" y="962025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808080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571500" y="1285875"/>
            <a:ext cx="110490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71500" y="1562100"/>
            <a:ext cx="53530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1965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71500" y="214312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1F32"/>
                </a:solidFill>
                <a:latin typeface="Microsoft YaHei"/>
                <a:ea typeface="Microsoft YaHei"/>
              </a:rPr>
              <a:t>市场机会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71500" y="2466975"/>
            <a:ext cx="5353050" cy="9620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执行摘要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项目背景与需求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市场分析与竞争格局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71500" y="4219575"/>
            <a:ext cx="53530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196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71500" y="4800600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1F32"/>
                </a:solidFill>
                <a:latin typeface="Microsoft YaHei"/>
                <a:ea typeface="Microsoft YaHei"/>
              </a:rPr>
              <a:t>产品与方案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571500" y="5124450"/>
            <a:ext cx="5353050" cy="962025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全场景应用方案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产品与技术体系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核心创新亮点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267450" y="1562100"/>
            <a:ext cx="53530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1965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267450" y="214312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1F32"/>
                </a:solidFill>
                <a:latin typeface="Microsoft YaHei"/>
                <a:ea typeface="Microsoft YaHei"/>
              </a:rPr>
              <a:t>商业与扩张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267450" y="2466975"/>
            <a:ext cx="535305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商业模式与盈利体系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可复制性与扩张能力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267450" y="4533900"/>
            <a:ext cx="53530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01965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267450" y="5114925"/>
            <a:ext cx="5353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61F32"/>
                </a:solidFill>
                <a:latin typeface="Microsoft YaHei"/>
                <a:ea typeface="Microsoft YaHei"/>
              </a:rPr>
              <a:t>财务与规划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267450" y="5438775"/>
            <a:ext cx="5353050" cy="647700"/>
          </a:xfrm>
          <a:prstGeom prst="rect"/>
        </p:spPr>
        <p:txBody>
          <a:bodyPr wrap="none" lIns="0" tIns="0" rIns="0" bIns="0"/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落地实施</a:t>
            </a:r>
            <a:r>
              <a:rPr lang="en-US" sz="1050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应用成效</a:t>
            </a:r>
            <a:endParaRPr/>
          </a:p>
          <a:p>
            <a:pPr>
              <a:lnSpc>
                <a:spcPct val="200000"/>
              </a:lnSpc>
            </a:pP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财务预测</a:t>
            </a:r>
            <a:r>
              <a:rPr lang="en-US" sz="1050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44546A"/>
                </a:solidFill>
                <a:latin typeface="Microsoft YaHei"/>
                <a:ea typeface="Microsoft YaHei"/>
              </a:rPr>
              <a:t>风险应对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71500" y="6276975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长安智策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西安城市决策空间智能平台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11249025" y="62769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 / 22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 style={{ background: '#062032', padding: '64px 64px' }}&gt;&#10;  &lt;Box style={{ flexDirection: 'row', flex: 1, alignItems: 'center', gap: 52 }}&gt;&#10;    &lt;Text style={{ fontSize: 250, fontWeight: 'bold', color: 'rgba(255,255,255,0.12)', lineHeight: 1 }}&gt;01&lt;/Text&gt;&#10;    &lt;Box&gt;&#10;      &lt;Text style={{ fontSize: 46, fontWeight: 'bold', color: '#FFFFFF', letterSpacing: 2 }}&gt;市场机会&lt;/Text&gt;&#10;      &lt;Text style={{ fontSize: 20, color: '#99BDED', marginTop: 14, letterSpacing: 1 }}&gt;Market Opportunity · 执行摘要 / 背景需求 / 市场格局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048125" y="2981325"/>
            <a:ext cx="50292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市场机会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048125" y="3648075"/>
            <a:ext cx="5029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Market Opportunity ·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执行摘要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背景需求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市场格局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308" name="" descr="&lt;Slide style={{ background: '#061F32', padding: '56px 60px 44px' }}&gt;&#10;  &lt;Text style={{ fontSize: 34, fontWeight: 'bold', color: '#FFFFFF', lineHeight: 1.3 }}&gt;国内首个公开数据驱动的 AI+Geo 空间智能统一入口&lt;/Text&gt;&#10;  &lt;Text style={{ fontSize: 15, color: '#99BDED', marginTop: 10 }}&gt;五大主体 · 99 项功能 · 六大展示模式 · 双端形态 · 技术链路全验证&lt;/Text&gt;&#10;  &lt;Box style={{ height: 1, background: 'rgba(255,255,255,0.2)', marginTop: 20, marginBottom: 26 }} /&gt;&#10;  &lt;Box style={{ flexDirection: 'row', flex: 1, gap: 20 }}&gt;&#10;    &lt;Box style={{ flex: 1, justifyContent: 'space-between' }}&gt;&#10;      &lt;Box&gt;&#10;        &lt;Text style={{ fontSize: 64, fontWeight: 'bold', color: '#08A6F6', lineHeight: 1 }}&gt;99&lt;/Text&gt;&#10;        &lt;Text style={{ fontSize: 15, color: '#99BDED', marginTop: 6 }}&gt;项功能模块（已落地高保真原型）&lt;/Text&gt;&#10;      &lt;/Box&gt;&#10;      &lt;Box&gt;&#10;        &lt;Text style={{ fontSize: 64, fontWeight: 'bold', color: '#08A6F6', lineHeight: 1 }}&gt;5&lt;/Text&gt;&#10;        &lt;Text style={{ fontSize: 15, color: '#99BDED', marginTop: 6 }}&gt;大服务主体全场景覆盖&lt;/Text&gt;&#10;      &lt;/Box&gt;&#10;      &lt;Box&gt;&#10;        &lt;Text style={{ fontSize: 64, fontWeight: 'bold', color: '#08A6F6', lineHeight: 1 }}&gt;6&lt;/Text&gt;&#10;        &lt;Text style={{ fontSize: 15, color: '#99BDED', marginTop: 6 }}&gt;种展示模式（空间→台账）&lt;/Text&gt;&#10;      &lt;/Box&gt;&#10;    &lt;/Box&gt;&#10;    &lt;Box style={{ flex: 1.6, justifyContent: 'center', borderLeft: '1px solid rgba(255,255,255,0.18)', paddingLeft: 32 }}&gt;&#10;      &lt;Text style={{ fontSize: 16, color: '#FFFFFF', lineHeight: 1.9 }}&gt;「长安智策」用&lt;Text style={{ color: '#08A6F6' }}&gt;自然语言&lt;/Text&gt;降低空间决策门槛，覆盖市民 / 游客 / 企业 / 小微商户 / 政府五大主体，全部基于西安公开政务数据与空间图层。&lt;/Text&gt;&#10;      &lt;Text style={{ fontSize: 16, color: '#FFFFFF', lineHeight: 1.9, marginTop: 14 }}&gt;核心价值：让沉睡的城市公共数据从「可查」变为「可用服务」，一次建设五端复用，激活公共数据的商业价值与社会价值。&lt;/Text&gt;&#10;      &lt;Text style={{ fontSize: 16, color: '#FFFFFF', lineHeight: 1.9, marginTop: 14 }}&gt;发展目标：&lt;Text style={{ color: '#08A6F6' }}&gt;西安深耕验证 → 陕西复制 → 西北扩张&lt;/Text&gt;，打造公共数据运营标杆。&lt;/Text&gt;&#10;    &lt;/Box&gt;&#10;  &lt;/Box&gt;&#10;  &lt;Box style={{ flexDirection: 'row', justifyContent: 'space-between', marginTop: 18 }}&gt;&#10;    &lt;Text style={{ fontSize: 13, color: '#5f7a99' }}&gt;判断：用自然语言把空间决策门槛降到零，是尚未被充分渗透的蓝海入口&lt;/Text&gt;&#10;    &lt;Text style={{ fontSize: 14, color: '#99BDED' }}&gt;4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571500" y="533400"/>
            <a:ext cx="110490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国内首个公开数据驱动的</a:t>
            </a:r>
            <a:r>
              <a:rPr lang="en-US" sz="2550" b="1">
                <a:solidFill>
                  <a:srgbClr val="FFFFFF"/>
                </a:solidFill>
                <a:latin typeface="Microsoft YaHei"/>
                <a:ea typeface="Microsoft YaHei"/>
              </a:rPr>
              <a:t> AI+Geo </a:t>
            </a: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空间智能统一入口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571500" y="1143000"/>
            <a:ext cx="1104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五大主体</a:t>
            </a:r>
            <a:r>
              <a:rPr lang="en-US" sz="1125">
                <a:solidFill>
                  <a:srgbClr val="99BDED"/>
                </a:solidFill>
                <a:latin typeface="Microsoft YaHei"/>
                <a:ea typeface="Microsoft YaHei"/>
              </a:rPr>
              <a:t> · 99 </a:t>
            </a: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项功能</a:t>
            </a:r>
            <a:r>
              <a:rPr lang="en-US" sz="1125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六大展示模式</a:t>
            </a:r>
            <a:r>
              <a:rPr lang="en-US" sz="1125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双端形态</a:t>
            </a:r>
            <a:r>
              <a:rPr lang="en-US" sz="1125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技术链路全验证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571500" y="1504950"/>
            <a:ext cx="1104900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571500" y="1762125"/>
            <a:ext cx="41719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8A6F6"/>
                </a:solidFill>
                <a:latin typeface="Microsoft YaHei"/>
                <a:ea typeface="Microsoft YaHei"/>
              </a:rPr>
              <a:t>99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71500" y="255270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项功能模块（已落地高保真原型）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571500" y="3457575"/>
            <a:ext cx="41719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8A6F6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71500" y="4248150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大服务主体全场景覆盖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571500" y="5143500"/>
            <a:ext cx="417195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8A6F6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571500" y="5934075"/>
            <a:ext cx="4171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9BDED"/>
                </a:solidFill>
                <a:latin typeface="Microsoft YaHei"/>
                <a:ea typeface="Microsoft YaHei"/>
              </a:rPr>
              <a:t>种展示模式（空间→台账）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4933950" y="1762125"/>
            <a:ext cx="6696075" cy="4343400"/>
          </a:xfrm>
          <a:custGeom>
            <a:pathLst>
              <a:path w="703" h="456">
                <a:moveTo>
                  <a:pt x="0" y="0"/>
                </a:moveTo>
                <a:lnTo>
                  <a:pt x="1" y="0"/>
                </a:lnTo>
                <a:lnTo>
                  <a:pt x="1" y="456"/>
                </a:lnTo>
                <a:lnTo>
                  <a:pt x="0" y="456"/>
                </a:lnTo>
                <a:close/>
              </a:path>
            </a:pathLst>
          </a:cu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5248275" y="2933700"/>
            <a:ext cx="63722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「长安智策」用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自然语言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降低空间决策门槛，覆盖市民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游客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企业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小微商户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政府五大主体，全部基于西安公开政务数据与空间图层。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5248275" y="3762375"/>
            <a:ext cx="637222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核心价值：让沉睡的城市公共数据从「可查」变为「可用服务」，一次建设五端复用，激活公共数据的商业价值与社会价值。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5248275" y="4591050"/>
            <a:ext cx="6372225" cy="352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发展目标：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西安深耕验证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陕西复制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西北扩张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，打造公共数据运营标杆。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571500" y="6276975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F7A99"/>
                </a:solidFill>
                <a:latin typeface="Microsoft YaHei"/>
                <a:ea typeface="Microsoft YaHei"/>
              </a:rPr>
              <a:t>判断：用自然语言把空间决策门槛降到零，是尚未被充分渗透的蓝海入口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11249025" y="62769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9BDED"/>
                </a:solidFill>
                <a:latin typeface="Microsoft YaHei"/>
                <a:ea typeface="Microsoft YaHei"/>
              </a:rPr>
              <a:t>4 / 22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25" name="" descr="&lt;Slide style={{ background: '#FFFFFF', padding: '52px 56px 40px' }}&gt;&#10;  &lt;Text style={{ fontSize: 32, fontWeight: 'bold', color: '#061F32', lineHeight: 1.3 }}&gt;政策持续加码，五大主体各有真实空间决策痛点&lt;/Text&gt;&#10;  &lt;Box style={{ height: 1, background: '#061F32', marginTop: 14, marginBottom: 20 }} /&gt;&#10;  &lt;Box style={{ flexDirection: 'row', flex: 1, gap: 22 }}&gt;&#10;    &lt;Box style={{ flex: 1 }}&gt;&#10;      &lt;Text style={{ fontSize: 15, fontWeight: 'bold', color: '#001965', marginBottom: 10 }}&gt;政策背景&lt;/Text&gt;&#10;      &lt;Box style={{ background: '#f4f7fb', borderRadius: 8, padding: 14, flex: 1 }}&gt;&#10;        &lt;Text style={{ fontSize: 13.5, color: '#061F32', lineHeight: 1.8 }}&gt;· 数据要素市场化配置改革{'\n'}· 数字政府 / 智慧城市建设{'\n'}· 西安市数据要素配置改革方案{'\n'}· &quot;北跨&quot;发展、城市更新、文旅提质&lt;/Text&gt;&#10;      &lt;/Box&gt;&#10;    &lt;/Box&gt;&#10;    &lt;Box style={{ flex: 2.2 }}&gt;&#10;      &lt;Text style={{ fontSize: 15, fontWeight: 'bold', color: '#001965', marginBottom: 10 }}&gt;五大主体痛点（锚定西安本地）&lt;/Text&gt;&#10;      &lt;Box style={{ flexDirection: 'row', flexWrap: 'wrap', gap: 10 }}&gt;&#10;        &lt;Box style={{ width: '48%', background: '#f4f7fb', borderRadius: 8, padding: 12 }}&gt;&#10;          &lt;Text style={{ fontSize: 14, fontWeight: 'bold', color: '#061F32' }}&gt;政府&lt;/Text&gt;&#10;          &lt;Text style={{ fontSize: 12.5, color: '#44546A', lineHeight: 1.6, marginTop: 4 }}&gt;基层人少事多、专项分析缺工具、系统割裂重复建设&lt;/Text&gt;&#10;        &lt;/Box&gt;&#10;        &lt;Box style={{ width: '48%', background: '#f4f7fb', borderRadius: 8, padding: 12 }}&gt;&#10;          &lt;Text style={{ fontSize: 14, fontWeight: 'bold', color: '#061F32' }}&gt;企业&lt;/Text&gt;&#10;          &lt;Text style={{ fontSize: 12.5, color: '#44546A', lineHeight: 1.6, marginTop: 4 }}&gt;选址信息分散、政策匹配难、商圈竞品分析弱&lt;/Text&gt;&#10;        &lt;/Box&gt;&#10;        &lt;Box style={{ width: '48%', background: '#f4f7fb', borderRadius: 8, padding: 12 }}&gt;&#10;          &lt;Text style={{ fontSize: 14, fontWeight: 'bold', color: '#061F32' }}&gt;小微商户&lt;/Text&gt;&#10;          &lt;Text style={{ fontSize: 12.5, color: '#44546A', lineHeight: 1.6, marginTop: 4 }}&gt;合规规则不透明、政策信息不对称、办事跑腿多&lt;/Text&gt;&#10;        &lt;/Box&gt;&#10;        &lt;Box style={{ width: '48%', background: '#f4f7fb', borderRadius: 8, padding: 12 }}&gt;&#10;          &lt;Text style={{ fontSize: 14, fontWeight: 'bold', color: '#061F32' }}&gt;市民 / 游客&lt;/Text&gt;&#10;          &lt;Text style={{ fontSize: 12.5, color: '#44546A', lineHeight: 1.6, marginTop: 4 }}&gt;学区养老配套信息不对称、景区拥堵、服务粗放&lt;/Text&gt;&#10;        &lt;/Box&gt;&#10;      &lt;/Box&gt;&#10;    &lt;/Box&gt;&#10;  &lt;/Box&gt;&#10;  &lt;Box style={{ flexDirection: 'row', justifyContent: 'space-between', marginTop: 14 }}&gt;&#10;    &lt;Text style={{ fontSize: 13, color: '#808080' }}&gt;Source：政策文件整理 + 西安本地调研 · 判断：需求真实且迫切，是产品落地的直接依据&lt;/Text&gt;&#10;    &lt;Text style={{ fontSize: 14, color: '#808080' }}&gt;5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政策持续加码，五大主体各有真实空间决策痛点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33400" y="1304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政策背景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533400" y="1571625"/>
            <a:ext cx="3409950" cy="4610100"/>
          </a:xfrm>
          <a:prstGeom prst="roundRect">
            <a:avLst>
              <a:gd name="adj" fmla="val 223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666750" y="1704975"/>
            <a:ext cx="3143250" cy="1114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数据要素市场化配置改革</a:t>
            </a:r>
            <a:endParaRPr/>
          </a:p>
          <a:p>
            <a:pPr>
              <a:lnSpc>
                <a:spcPct val="180000"/>
              </a:lnSpc>
            </a:pP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数字政府</a:t>
            </a: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智慧城市建设</a:t>
            </a:r>
            <a:endParaRPr/>
          </a:p>
          <a:p>
            <a:pPr>
              <a:lnSpc>
                <a:spcPct val="180000"/>
              </a:lnSpc>
            </a:pP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· 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西安市数据要素配置改革方案</a:t>
            </a:r>
            <a:endParaRPr/>
          </a:p>
          <a:p>
            <a:pPr>
              <a:lnSpc>
                <a:spcPct val="180000"/>
              </a:lnSpc>
            </a:pP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· "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北跨</a:t>
            </a:r>
            <a:r>
              <a:rPr lang="en-US" sz="1013">
                <a:solidFill>
                  <a:srgbClr val="061F32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061F32"/>
                </a:solidFill>
                <a:latin typeface="Microsoft YaHei"/>
                <a:ea typeface="Microsoft YaHei"/>
              </a:rPr>
              <a:t>发展、城市更新、文旅提质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152900" y="1304925"/>
            <a:ext cx="7505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五大主体痛点（锚定西安本地）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152900" y="1571625"/>
            <a:ext cx="3600450" cy="657225"/>
          </a:xfrm>
          <a:prstGeom prst="roundRect">
            <a:avLst>
              <a:gd name="adj" fmla="val 1159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267200" y="1685925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政府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267200" y="1885950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基层人少事多、专项分析缺工具、系统割裂重复建设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7848600" y="1571625"/>
            <a:ext cx="3600450" cy="657225"/>
          </a:xfrm>
          <a:prstGeom prst="roundRect">
            <a:avLst>
              <a:gd name="adj" fmla="val 1159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7962900" y="1685925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企业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962900" y="1885950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选址信息分散、政策匹配难、商圈竞品分析弱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152900" y="2324100"/>
            <a:ext cx="3600450" cy="657225"/>
          </a:xfrm>
          <a:prstGeom prst="roundRect">
            <a:avLst>
              <a:gd name="adj" fmla="val 1159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267200" y="24384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小微商户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267200" y="26384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合规规则不透明、政策信息不对称、办事跑腿多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7848600" y="2324100"/>
            <a:ext cx="3600450" cy="657225"/>
          </a:xfrm>
          <a:prstGeom prst="roundRect">
            <a:avLst>
              <a:gd name="adj" fmla="val 1159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7962900" y="24384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市民</a:t>
            </a:r>
            <a:r>
              <a:rPr lang="en-US" sz="1050" b="1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游客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7962900" y="2638425"/>
            <a:ext cx="337185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学区养老配套信息不对称、景区拥堵、服务粗放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4886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：政策文件整理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西安本地调研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判断：需求真实且迫切，是产品落地的直接依据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11287125" y="63150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5 / 22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47" name="" descr="&lt;Slide style={{ background: '#062032', padding: '64px 64px' }}&gt;&#10;  &lt;Box style={{ flexDirection: 'row', flex: 1, alignItems: 'center', gap: 52 }}&gt;&#10;    &lt;Text style={{ fontSize: 250, fontWeight: 'bold', color: 'rgba(255,255,255,0.12)', lineHeight: 1 }}&gt;02&lt;/Text&gt;&#10;    &lt;Box&gt;&#10;      &lt;Text style={{ fontSize: 46, fontWeight: 'bold', color: '#FFFFFF', letterSpacing: 2 }}&gt;产品与方案&lt;/Text&gt;&#10;      &lt;Text style={{ fontSize: 20, color: '#99BDED', marginTop: 14, letterSpacing: 1 }}&gt;Product &amp; Solution · 全场景方案 / 技术体系 / 创新亮点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4048125" y="2981325"/>
            <a:ext cx="516255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产品与方案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048125" y="3648075"/>
            <a:ext cx="5162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Product &amp; Solution ·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全场景方案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技术体系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创新亮点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52" name="" descr="&lt;Slide style={{ background: '#FFFFFF', padding: '52px 56px 40px' }}&gt;&#10;  &lt;Text style={{ fontSize: 32, fontWeight: 'bold', color: '#061F32', lineHeight: 1.3 }}&gt;五大主体 99 项场景，从宏观治理到微观生活全覆盖&lt;/Text&gt;&#10;  &lt;Box style={{ height: 1, background: '#061F32', marginTop: 14, marginBottom: 22 }} /&gt;&#10;  &lt;Box style={{ flexDirection: 'row', flex: 1, gap: 18 }}&gt;&#10;    &lt;Box style={{ flex: 1, background: '#f4f7fb', borderRadius: 10, padding: 18, justifyContent: 'center', alignItems: 'center' }}&gt;&#10;      &lt;Text style={{ fontSize: 46, fontWeight: 'bold', color: '#16a34a', lineHeight: 1 }}&gt;27&lt;/Text&gt;&#10;      &lt;Text style={{ fontSize: 16, fontWeight: 'bold', color: '#061F32', marginTop: 6 }}&gt;政府治理&lt;/Text&gt;&#10;      &lt;Text style={{ fontSize: 12, color: '#44546A', marginTop: 4, textAlign: 'center', lineHeight: 1.6 }}&gt;商铺治理 / 设施巡检{'\n'}内涝推演 / 均等化评估&lt;/Text&gt;&#10;    &lt;/Box&gt;&#10;    &lt;Box style={{ flex: 1, background: '#f4f7fb', borderRadius: 10, padding: 18, justifyContent: 'center', alignItems: 'center' }}&gt;&#10;      &lt;Text style={{ fontSize: 46, fontWeight: 'bold', color: '#2563eb', lineHeight: 1 }}&gt;24&lt;/Text&gt;&#10;      &lt;Text style={{ fontSize: 16, fontWeight: 'bold', color: '#061F32', marginTop: 6 }}&gt;企业服务&lt;/Text&gt;&#10;      &lt;Text style={{ fontSize: 12, color: '#44546A', marginTop: 4, textAlign: 'center', lineHeight: 1.6 }}&gt;选址评估 / 政策匹配{'\n'}商圈竞品 / 产业链对接&lt;/Text&gt;&#10;    &lt;/Box&gt;&#10;    &lt;Box style={{ flex: 1, background: '#f4f7fb', borderRadius: 10, padding: 18, justifyContent: 'center', alignItems: 'center' }}&gt;&#10;      &lt;Text style={{ fontSize: 46, fontWeight: 'bold', color: '#7c3aed', lineHeight: 1 }}&gt;10&lt;/Text&gt;&#10;      &lt;Text style={{ fontSize: 16, fontWeight: 'bold', color: '#061F32', marginTop: 6 }}&gt;小微商户&lt;/Text&gt;&#10;      &lt;Text style={{ fontSize: 12, color: '#44546A', marginTop: 4, textAlign: 'center', lineHeight: 1.6 }}&gt;合规自查 / 办事指引{'\n'}纾困补贴匹配&lt;/Text&gt;&#10;    &lt;/Box&gt;&#10;    &lt;Box style={{ flex: 1, background: '#f4f7fb', borderRadius: 10, padding: 18, justifyContent: 'center', alignItems: 'center' }}&gt;&#10;      &lt;Text style={{ fontSize: 46, fontWeight: 'bold', color: '#0891b2', lineHeight: 1 }}&gt;24&lt;/Text&gt;&#10;      &lt;Text style={{ fontSize: 16, fontWeight: 'bold', color: '#061F32', marginTop: 6 }}&gt;市民服务&lt;/Text&gt;&#10;      &lt;Text style={{ fontSize: 12, color: '#44546A', marginTop: 4, textAlign: 'center', lineHeight: 1.6 }}&gt;生活圈体检 / 学区查询{'\n'}智慧停车 / 办事指引&lt;/Text&gt;&#10;    &lt;/Box&gt;&#10;    &lt;Box style={{ flex: 1, background: '#f4f7fb', borderRadius: 10, padding: 18, justifyContent: 'center', alignItems: 'center' }}&gt;&#10;      &lt;Text style={{ fontSize: 46, fontWeight: 'bold', color: '#d97706', lineHeight: 1 }}&gt;14&lt;/Text&gt;&#10;      &lt;Text style={{ fontSize: 16, fontWeight: 'bold', color: '#061F32', marginTop: 6 }}&gt;游客文旅&lt;/Text&gt;&#10;      &lt;Text style={{ fontSize: 12, color: '#44546A', marginTop: 4, textAlign: 'center', lineHeight: 1.6 }}&gt;客流预判 / 主题线路{'\n'}便民设施 / 交通接驳&lt;/Text&gt;&#10;    &lt;/Box&gt;&#10;  &lt;/Box&gt;&#10;  &lt;Box style={{ flexDirection: 'row', justifyContent: 'space-between', marginTop: 18 }}&gt;&#10;    &lt;Text style={{ fontSize: 13, color: '#808080' }}&gt;判断：五端全场景覆盖为国内稀缺，形成天然的入口与生态位&lt;/Text&gt;&#10;    &lt;Text style={{ fontSize: 14, color: '#808080' }}&gt;7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五大主体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99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项场景，从宏观治理到微观生活全覆盖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533400" y="1323975"/>
            <a:ext cx="2085975" cy="4819650"/>
          </a:xfrm>
          <a:prstGeom prst="roundRect">
            <a:avLst>
              <a:gd name="adj" fmla="val 456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1304925" y="31051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16A34A"/>
                </a:solidFill>
                <a:latin typeface="Microsoft YaHei"/>
                <a:ea typeface="Microsoft YaHei"/>
              </a:rPr>
              <a:t>27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1276350" y="3695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政府治理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1000125" y="3924300"/>
            <a:ext cx="11525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商铺治理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设施巡检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内涝推演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均等化评估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2790825" y="1323975"/>
            <a:ext cx="2085975" cy="4819650"/>
          </a:xfrm>
          <a:prstGeom prst="roundRect">
            <a:avLst>
              <a:gd name="adj" fmla="val 456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562350" y="31051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563EB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3533775" y="3695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企业服务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3257550" y="3924300"/>
            <a:ext cx="11525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选址评估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政策匹配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商圈竞品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产业链对接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5048250" y="1323975"/>
            <a:ext cx="2095500" cy="4819650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5829300" y="31051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7C3AED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5791200" y="3695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小微商户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5581650" y="3924300"/>
            <a:ext cx="10382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合规自查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办事指引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纾困补贴匹配</a:t>
            </a:r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7315200" y="1323975"/>
            <a:ext cx="2085975" cy="4819650"/>
          </a:xfrm>
          <a:prstGeom prst="roundRect">
            <a:avLst>
              <a:gd name="adj" fmla="val 456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086725" y="31051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0891B2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8058150" y="3695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市民服务</a:t>
            </a:r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7781925" y="3924300"/>
            <a:ext cx="11525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生活圈体检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学区查询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智慧停车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办事指引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9572625" y="1323975"/>
            <a:ext cx="2085975" cy="4819650"/>
          </a:xfrm>
          <a:prstGeom prst="roundRect">
            <a:avLst>
              <a:gd name="adj" fmla="val 456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10344150" y="31051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D97706"/>
                </a:solidFill>
                <a:latin typeface="Microsoft YaHei"/>
                <a:ea typeface="Microsoft YaHei"/>
              </a:rPr>
              <a:t>14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0315575" y="3695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游客文旅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10096500" y="3924300"/>
            <a:ext cx="1038225" cy="4476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客流预判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主题线路</a:t>
            </a:r>
            <a:endParaRPr/>
          </a:p>
          <a:p>
            <a:pPr algn="ctr"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便民设施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交通接驳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343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判断：五端全场景覆盖为国内稀缺，形成天然的入口与生态位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1287125" y="63150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7 / 22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78" name="" descr="&lt;Slide style={{ background: '#FFFFFF', padding: '52px 56px 40px' }}&gt;&#10;  &lt;Text style={{ fontSize: 32, fontWeight: 'bold', color: '#061F32', lineHeight: 1.3 }}&gt;六种展示模式统一承载，一次输入多模态结果&lt;/Text&gt;&#10;  &lt;Box style={{ height: 1, background: '#061F32', marginTop: 14, marginBottom: 22 }} /&gt;&#10;  &lt;Box style={{ flexDirection: 'row', flex: 1, gap: 16 }}&gt;&#10;    &lt;Box style={{ flex: 1, justifyContent: 'space-between' }}&gt;&#10;      &lt;Box style={{ borderLeft: '3px solid #08A6F6', paddingLeft: 12 }}&gt;&#10;        &lt;Text style={{ fontSize: 17, fontWeight: 'bold', color: '#061F32' }}&gt;A 空间地理类&lt;/Text&gt;&#10;        &lt;Text style={{ fontSize: 12.5, color: '#44546A', lineHeight: 1.6, marginTop: 4 }}&gt;地图 / POI 定位，如智慧停车、景点查询&lt;/Text&gt;&#10;      &lt;/Box&gt;&#10;      &lt;Box style={{ borderLeft: '3px solid #2563eb', paddingLeft: 12 }}&gt;&#10;        &lt;Text style={{ fontSize: 17, fontWeight: 'bold', color: '#061F32' }}&gt;B 办事流程类&lt;/Text&gt;&#10;        &lt;Text style={{ fontSize: 12.5, color: '#44546A', lineHeight: 1.6, marginTop: 4 }}&gt;步骤化指引，如办事流程、报建指引&lt;/Text&gt;&#10;      &lt;/Box&gt;&#10;      &lt;Box style={{ borderLeft: '3px solid #7c3aed', paddingLeft: 12 }}&gt;&#10;        &lt;Text style={{ fontSize: 17, fontWeight: 'bold', color: '#061F32' }}&gt;C 政策清单类&lt;/Text&gt;&#10;        &lt;Text style={{ fontSize: 12.5, color: '#44546A', lineHeight: 1.6, marginTop: 4 }}&gt;政策列表，如政策匹配、纾困补贴&lt;/Text&gt;&#10;      &lt;/Box&gt;&#10;    &lt;/Box&gt;&#10;    &lt;Box style={{ flex: 1, justifyContent: 'space-between' }}&gt;&#10;      &lt;Box style={{ borderLeft: '3px solid #16a34a', paddingLeft: 12 }}&gt;&#10;        &lt;Text style={{ fontSize: 17, fontWeight: 'bold', color: '#061F32' }}&gt;D 分析评估类&lt;/Text&gt;&#10;        &lt;Text style={{ fontSize: 12.5, color: '#44546A', lineHeight: 1.6, marginTop: 4 }}&gt;图表 / KPI，如商圈分析、选址打分&lt;/Text&gt;&#10;      &lt;/Box&gt;&#10;      &lt;Box style={{ borderLeft: '3px solid #d97706', paddingLeft: 12 }}&gt;&#10;        &lt;Text style={{ fontSize: 17, fontWeight: 'bold', color: '#061F32' }}&gt;E 仿真推演类&lt;/Text&gt;&#10;        &lt;Text style={{ fontSize: 12.5, color: '#44546A', lineHeight: 1.6, marginTop: 4 }}&gt;模拟推演，如内涝仿真、客流预判&lt;/Text&gt;&#10;      &lt;/Box&gt;&#10;      &lt;Box style={{ borderLeft: '3px solid #0891b2', paddingLeft: 12 }}&gt;&#10;        &lt;Text style={{ fontSize: 17, fontWeight: 'bold', color: '#061F32' }}&gt;F 台账统计类&lt;/Text&gt;&#10;        &lt;Text style={{ fontSize: 12.5, color: '#44546A', lineHeight: 1.6, marginTop: 4 }}&gt;动态台账，如商铺台账、设施盘点&lt;/Text&gt;&#10;      &lt;/Box&gt;&#10;    &lt;/Box&gt;&#10;  &lt;/Box&gt;&#10;  &lt;Box style={{ flexDirection: 'row', justifyContent: 'space-between', marginTop: 18 }}&gt;&#10;    &lt;Text style={{ fontSize: 13, color: '#808080' }}&gt;判断：六模式是 99 项场景的统一渲染骨架，保证新场景低成本接入&lt;/Text&gt;&#10;    &lt;Text style={{ fontSize: 14, color: '#808080' }}&gt;8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六种展示模式统一承载，一次输入多模态结果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533400" y="1323975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676275" y="1323975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A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空间地理类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76275" y="1562100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地图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POI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定位，如智慧停车、景点查询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533400" y="3505200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76275" y="350520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B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办事流程类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76275" y="3743325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步骤化指引，如办事流程、报建指引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533400" y="5676900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76275" y="567690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C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政策清单类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676275" y="5915025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政策列表，如政策匹配、纾困补贴</a:t>
            </a:r>
            <a:endParaRPr/>
          </a:p>
        </p:txBody>
      </p:sp>
      <p:sp>
        <p:nvSpPr>
          <p:cNvPr id="391" name=""/>
          <p:cNvSpPr/>
          <p:nvPr/>
        </p:nvSpPr>
        <p:spPr>
          <a:xfrm rot="0" flipH="0" flipV="0">
            <a:off x="6172200" y="1323975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16A34A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6315075" y="1323975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D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分析评估类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315075" y="1562100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图表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KPI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，如商圈分析、选址打分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172200" y="3505200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D97706"/>
          </a:solidFill>
          <a:ln/>
        </p:spPr>
        <p:txBody>
          <a:bodyPr/>
          <a:p/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315075" y="350520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E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仿真推演类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315075" y="3743325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模拟推演，如内涝仿真、客流预判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172200" y="5676900"/>
            <a:ext cx="5514975" cy="466725"/>
          </a:xfrm>
          <a:custGeom>
            <a:pathLst>
              <a:path w="579" h="49">
                <a:moveTo>
                  <a:pt x="0" y="0"/>
                </a:moveTo>
                <a:lnTo>
                  <a:pt x="3" y="0"/>
                </a:lnTo>
                <a:lnTo>
                  <a:pt x="3" y="49"/>
                </a:lnTo>
                <a:lnTo>
                  <a:pt x="0" y="49"/>
                </a:lnTo>
                <a:close/>
              </a:path>
            </a:pathLst>
          </a:custGeom>
          <a:solidFill>
            <a:srgbClr val="0891B2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315075" y="5676900"/>
            <a:ext cx="53435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61F32"/>
                </a:solidFill>
                <a:latin typeface="Microsoft YaHei"/>
                <a:ea typeface="Microsoft YaHei"/>
              </a:rPr>
              <a:t>F </a:t>
            </a: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台账统计类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15075" y="5915025"/>
            <a:ext cx="53435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动态台账，如商铺台账、设施盘点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686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判断：六模式是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99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项场景的统一渲染骨架，保证新场景低成本接入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287125" y="63150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8 / 22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02" name="" descr="&lt;Slide style={{ background: '#FFFFFF', padding: '52px 56px 40px' }}&gt;&#10;  &lt;Text style={{ fontSize: 32, fontWeight: 'bold', color: '#061F32', lineHeight: 1.3 }}&gt;四层架构 + 全开源技术栈，轻资产可复制&lt;/Text&gt;&#10;  &lt;Box style={{ height: 1, background: '#061F32', marginTop: 14, marginBottom: 22 }} /&gt;&#10;  &lt;Box style={{ flexDirection: 'row', flex: 1, gap: 20 }}&gt;&#10;    &lt;Box style={{ flex: 1.3, justifyContent: 'space-between' }}&gt;&#10;      &lt;Box style={{ background: '#f4f7fb', borderRadius: 8, padding: 14 }}&gt;&#10;        &lt;Text style={{ fontSize: 13, fontWeight: 'bold', color: '#08A6F6' }}&gt;入口层&lt;/Text&gt;&#10;        &lt;Text style={{ fontSize: 15, fontWeight: 'bold', color: '#061F32', marginTop: 2 }}&gt;PC 网页端 + App 移动端&lt;/Text&gt;&#10;        &lt;Text style={{ fontSize: 12, color: '#44546A', marginTop: 2 }}&gt;统一自然语言入口&lt;/Text&gt;&#10;      &lt;/Box&gt;&#10;      &lt;Box style={{ background: '#f4f7fb', borderRadius: 8, padding: 14 }}&gt;&#10;        &lt;Text style={{ fontSize: 13, fontWeight: 'bold', color: '#2563eb' }}&gt;应用层&lt;/Text&gt;&#10;        &lt;Text style={{ fontSize: 15, fontWeight: 'bold', color: '#061F32', marginTop: 2 }}&gt;五大场景 · 99 项功能&lt;/Text&gt;&#10;        &lt;Text style={{ fontSize: 12, color: '#44546A', marginTop: 2 }}&gt;模块化沉淀、按需裁剪&lt;/Text&gt;&#10;      &lt;/Box&gt;&#10;      &lt;Box style={{ background: '#f4f7fb', borderRadius: 8, padding: 14 }}&gt;&#10;        &lt;Text style={{ fontSize: 13, fontWeight: 'bold', color: '#7c3aed' }}&gt;引擎层&lt;/Text&gt;&#10;        &lt;Text style={{ fontSize: 15, fontWeight: 'bold', color: '#061F32', marginTop: 2 }}&gt;AI 语义 + Geo 计算 + 政策匹配 + 仿真&lt;/Text&gt;&#10;        &lt;Text style={{ fontSize: 12, color: '#44546A', marginTop: 2 }}&gt;意图驱动空间计算&lt;/Text&gt;&#10;      &lt;/Box&gt;&#10;      &lt;Box style={{ background: '#f4f7fb', borderRadius: 8, padding: 14 }}&gt;&#10;        &lt;Text style={{ fontSize: 13, fontWeight: 'bold', color: '#16a34a' }}&gt;数据层&lt;/Text&gt;&#10;        &lt;Text style={{ fontSize: 15, fontWeight: 'bold', color: '#061F32', marginTop: 2 }}&gt;公开政务 + 社会数据 + 空间图层&lt;/Text&gt;&#10;        &lt;Text style={{ fontSize: 12, color: '#44546A', marginTop: 2 }}&gt;全公开合规，无私有 / 隐私数据&lt;/Text&gt;&#10;      &lt;/Box&gt;&#10;    &lt;/Box&gt;&#10;    &lt;Box style={{ flex: 1.7, justifyContent: 'center' }}&gt;&#10;      &lt;Text style={{ fontSize: 15, fontWeight: 'bold', color: '#001965', marginBottom: 12 }}&gt;核心技术底座（全开源）&lt;/Text&gt;&#10;      &lt;Box style={{ flexDirection: 'row', flexWrap: 'wrap', gap: 8 }}&gt;&#10;        &lt;Text style={{ fontSize: 13, background: '#eef4ff', borderRadius: 6, padding: '6px 10px', color: '#061F32' }}&gt;PostgreSQL + PostGIS&lt;/Text&gt;&#10;        &lt;Text style={{ fontSize: 13, background: '#eef4ff', borderRadius: 6, padding: '6px 10px', color: '#061F32' }}&gt;MapLibre 矢量瓦片&lt;/Text&gt;&#10;        &lt;Text style={{ fontSize: 13, background: '#eef4ff', borderRadius: 6, padding: '6px 10px', color: '#061F32' }}&gt;pgRouting 路径&lt;/Text&gt;&#10;        &lt;Text style={{ fontSize: 13, background: '#eef4ff', borderRadius: 6, padding: '6px 10px', color: '#061F32' }}&gt;服务区 / 淹没仿真&lt;/Text&gt;&#10;        &lt;Text style={{ fontSize: 13, background: '#eef4ff', borderRadius: 6, padding: '6px 10px', color: '#061F32' }}&gt;开源大模型意图识别&lt;/Text&gt;&#10;        &lt;Text style={{ fontSize: 13, background: '#eef4ff', borderRadius: 6, padding: '6px 10px', color: '#061F32' }}&gt;图像识别 / 文档生成&lt;/Text&gt;&#10;      &lt;/Box&gt;&#10;      &lt;Text style={{ fontSize: 13, color: '#44546A', lineHeight: 1.7, marginTop: 16 }}&gt;无厂商绑定、无专用硬件，云原生弹性扩容，迁移成本低——这是低成本跨城复制的技术根基。&lt;/Text&gt;&#10;    &lt;/Box&gt;&#10;  &lt;/Box&gt;&#10;  &lt;Box style={{ flexDirection: 'row', justifyContent: 'space-between', marginTop: 16 }}&gt;&#10;    &lt;Text style={{ fontSize: 13, color: '#808080' }}&gt;判断：全开源栈是「部署成本仅为传统方案 1/10」的关键支撑&lt;/Text&gt;&#10;    &lt;Text style={{ fontSize: 14, color: '#808080' }}&gt;9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四层架构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全开源技术栈，轻资产可复制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533400" y="1323975"/>
            <a:ext cx="4733925" cy="771525"/>
          </a:xfrm>
          <a:prstGeom prst="roundRect">
            <a:avLst>
              <a:gd name="adj" fmla="val 987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666750" y="1457325"/>
            <a:ext cx="446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8A6F6"/>
                </a:solidFill>
                <a:latin typeface="Microsoft YaHei"/>
                <a:ea typeface="Microsoft YaHei"/>
              </a:rPr>
              <a:t>入口层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66750" y="1628775"/>
            <a:ext cx="446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PC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网页端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App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移动端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66750" y="1819275"/>
            <a:ext cx="4467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统一自然语言入口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533400" y="2676525"/>
            <a:ext cx="4733925" cy="771525"/>
          </a:xfrm>
          <a:prstGeom prst="roundRect">
            <a:avLst>
              <a:gd name="adj" fmla="val 987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66750" y="2809875"/>
            <a:ext cx="446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2563EB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66750" y="2981325"/>
            <a:ext cx="446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五大场景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· 99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项功能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66750" y="3171825"/>
            <a:ext cx="4467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模块化沉淀、按需裁剪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533400" y="4038600"/>
            <a:ext cx="4733925" cy="771525"/>
          </a:xfrm>
          <a:prstGeom prst="roundRect">
            <a:avLst>
              <a:gd name="adj" fmla="val 987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66750" y="4171950"/>
            <a:ext cx="446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7C3AED"/>
                </a:solidFill>
                <a:latin typeface="Microsoft YaHei"/>
                <a:ea typeface="Microsoft YaHei"/>
              </a:rPr>
              <a:t>引擎层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66750" y="4343400"/>
            <a:ext cx="446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AI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语义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Geo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计算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政策匹配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仿真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66750" y="4533900"/>
            <a:ext cx="4467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意图驱动空间计算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533400" y="5391150"/>
            <a:ext cx="4733925" cy="771525"/>
          </a:xfrm>
          <a:prstGeom prst="roundRect">
            <a:avLst>
              <a:gd name="adj" fmla="val 9877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66750" y="5524500"/>
            <a:ext cx="4467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16A34A"/>
                </a:solidFill>
                <a:latin typeface="Microsoft YaHei"/>
                <a:ea typeface="Microsoft YaHei"/>
              </a:rPr>
              <a:t>数据层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66750" y="5695950"/>
            <a:ext cx="4467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公开政务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社会数据</a:t>
            </a:r>
            <a:r>
              <a:rPr lang="en-US" sz="1125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1125" b="1">
                <a:solidFill>
                  <a:srgbClr val="061F32"/>
                </a:solidFill>
                <a:latin typeface="Microsoft YaHei"/>
                <a:ea typeface="Microsoft YaHei"/>
              </a:rPr>
              <a:t>空间图层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666750" y="5886450"/>
            <a:ext cx="4467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全公开合规，无私有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隐私数据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457825" y="3095625"/>
            <a:ext cx="6200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核心技术底座（全开源）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5457825" y="3381375"/>
            <a:ext cx="1495425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5457825" y="3381375"/>
            <a:ext cx="1495425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PostgreSQL + PostGIS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7029450" y="3381375"/>
            <a:ext cx="1285875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7029450" y="3381375"/>
            <a:ext cx="1285875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MapLibre </a:t>
            </a: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矢量瓦片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8391525" y="3381375"/>
            <a:ext cx="1104900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391525" y="3381375"/>
            <a:ext cx="1104900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en-US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pgRouting </a:t>
            </a: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路径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9572625" y="3381375"/>
            <a:ext cx="1190625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9572625" y="3381375"/>
            <a:ext cx="1190625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服务区</a:t>
            </a:r>
            <a:r>
              <a:rPr lang="en-US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淹没仿真</a:t>
            </a:r>
            <a:endParaRPr/>
          </a:p>
        </p:txBody>
      </p:sp>
      <p:sp>
        <p:nvSpPr>
          <p:cNvPr id="431" name=""/>
          <p:cNvSpPr/>
          <p:nvPr/>
        </p:nvSpPr>
        <p:spPr>
          <a:xfrm rot="0" flipH="0" flipV="0">
            <a:off x="5457825" y="3724275"/>
            <a:ext cx="1304925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5457825" y="3724275"/>
            <a:ext cx="1304925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开源大模型意图识别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838950" y="3724275"/>
            <a:ext cx="1314450" cy="266700"/>
          </a:xfrm>
          <a:prstGeom prst="roundRect">
            <a:avLst>
              <a:gd name="adj" fmla="val 21429"/>
            </a:avLst>
          </a:prstGeom>
          <a:solidFill>
            <a:srgbClr val="EEF4FF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6838950" y="3724275"/>
            <a:ext cx="1314450" cy="266700"/>
          </a:xfrm>
          <a:prstGeom prst="rect"/>
        </p:spPr>
        <p:txBody>
          <a:bodyPr wrap="none" lIns="71438" tIns="42863" rIns="71438" bIns="42863"/>
          <a:p>
            <a:pPr>
              <a:lnSpc>
                <a:spcPct val="100000"/>
              </a:lnSpc>
            </a:pP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图像识别</a:t>
            </a:r>
            <a:r>
              <a:rPr lang="en-US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061F32"/>
                </a:solidFill>
                <a:highlight>
                  <a:srgbClr val="EEF4FF"/>
                </a:highlight>
                <a:latin typeface="Microsoft YaHei"/>
                <a:ea typeface="Microsoft YaHei"/>
              </a:rPr>
              <a:t>文档生成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5457825" y="4143375"/>
            <a:ext cx="6200775" cy="2571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无厂商绑定、无专用硬件，云原生弹性扩容，迁移成本低——这是低成本跨城复制的技术根基。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判断：全开源栈是「部署成本仅为传统方案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1/10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」的关键支撑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11287125" y="6315075"/>
            <a:ext cx="37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9 / 22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1" name="" descr="&lt;Slide style={{ background: '#FFFFFF', padding: '52px 56px 40px' }}&gt;&#10;  &lt;Text style={{ fontSize: 32, fontWeight: 'bold', color: '#061F32', lineHeight: 1.3 }}&gt;四大创新：从技术到模式形成复合壁垒&lt;/Text&gt;&#10;  &lt;Box style={{ height: 1, background: '#061F32', marginTop: 14, marginBottom: 22 }} /&gt;&#10;  &lt;Box style={{ flexDirection: 'row', flex: 1, gap: 18 }}&gt;&#10;    &lt;Box style={{ flex: 1, background: '#061F32', borderRadius: 10, padding: 18 }}&gt;&#10;      &lt;Text style={{ fontSize: 22, fontWeight: 'bold', color: '#08A6F6' }}&gt;技术创新&lt;/Text&gt;&#10;      &lt;Text style={{ fontSize: 13.5, color: '#FFFFFF', lineHeight: 1.7, marginTop: 10 }}&gt;意图驱动的空间计算引擎，把「菜单式工具」升级为「自然语言需求驱动」，用户零 GIS 知识即可获得地图 / 图表 / 报告多模态结果。&lt;/Text&gt;&#10;    &lt;/Box&gt;&#10;    &lt;Box style={{ flex: 1, background: '#001965', borderRadius: 10, padding: 18 }}&gt;&#10;      &lt;Text style={{ fontSize: 22, fontWeight: 'bold', color: '#99BDED' }}&gt;模式创新&lt;/Text&gt;&#10;      &lt;Text style={{ fontSize: 13.5, color: '#FFFFFF', lineHeight: 1.7, marginTop: 10 }}&gt;公开数据轻资产运营，部署成本仅为传统城市大脑 1/10；免费基础服务保公益、增值服务保商业闭环。&lt;/Text&gt;&#10;    &lt;/Box&gt;&#10;    &lt;Box style={{ flex: 1, background: '#062032', borderRadius: 10, padding: 18 }}&gt;&#10;      &lt;Text style={{ fontSize: 22, fontWeight: 'bold', color: '#08A6F6' }}&gt;场景创新&lt;/Text&gt;&#10;      &lt;Text style={{ fontSize: 13.5, color: '#FFFFFF', lineHeight: 1.7, marginTop: 10 }}&gt;国内少有的五主体全场景覆盖，99 项细分场景从宏观治理到微观生活，模块化沉淀、快速扩展。&lt;/Text&gt;&#10;    &lt;/Box&gt;&#10;    &lt;Box style={{ flex: 1, background: '#44546A', borderRadius: 10, padding: 18 }}&gt;&#10;      &lt;Text style={{ fontSize: 22, fontWeight: 'bold', color: '#FFFFFF' }}&gt;体验创新&lt;/Text&gt;&#10;      &lt;Text style={{ fontSize: 13.5, color: '#FFFFFF', lineHeight: 1.7, marginTop: 10 }}&gt;零学习成本自然语言交互，无菜单、无手册，说话即用，适配全年龄段用户，结果可视化一目了然。&lt;/Text&gt;&#10;    &lt;/Box&gt;&#10;  &lt;/Box&gt;&#10;  &lt;Box style={{ flexDirection: 'row', justifyContent: 'space-between', marginTop: 18 }}&gt;&#10;    &lt;Text style={{ fontSize: 13, color: '#808080' }}&gt;判断：四重创新叠加，构建「体验 + 成本 + 场景 + 数据」复合壁垒&lt;/Text&gt;&#10;    &lt;Text style={{ fontSize: 14, color: '#808080' }}&gt;10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四大创新：从技术到模式形成复合壁垒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533400" y="1323975"/>
            <a:ext cx="2657475" cy="4819650"/>
          </a:xfrm>
          <a:prstGeom prst="roundRect">
            <a:avLst>
              <a:gd name="adj" fmla="val 3584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704850" y="1495425"/>
            <a:ext cx="2314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8A6F6"/>
                </a:solidFill>
                <a:latin typeface="Microsoft YaHei"/>
                <a:ea typeface="Microsoft YaHei"/>
              </a:rPr>
              <a:t>技术创新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704850" y="1847850"/>
            <a:ext cx="2314575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意图驱动的空间计算引擎，把「菜单式工具」升级为「自然语言需求驱动」，用户零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 GIS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知识即可获得地图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图表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 /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报告多模态结果。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3362325" y="1323975"/>
            <a:ext cx="2647950" cy="4819650"/>
          </a:xfrm>
          <a:prstGeom prst="roundRect">
            <a:avLst>
              <a:gd name="adj" fmla="val 3597"/>
            </a:avLst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3533775" y="1495425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99BDED"/>
                </a:solidFill>
                <a:latin typeface="Microsoft YaHei"/>
                <a:ea typeface="Microsoft YaHei"/>
              </a:rPr>
              <a:t>模式创新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533775" y="1847850"/>
            <a:ext cx="23050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公开数据轻资产运营，部署成本仅为传统城市大脑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 1/10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；免费基础服务保公益、增值服务保商业闭环。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181725" y="1323975"/>
            <a:ext cx="2657475" cy="4819650"/>
          </a:xfrm>
          <a:prstGeom prst="roundRect">
            <a:avLst>
              <a:gd name="adj" fmla="val 3584"/>
            </a:avLst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353175" y="1495425"/>
            <a:ext cx="2314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8A6F6"/>
                </a:solidFill>
                <a:latin typeface="Microsoft YaHei"/>
                <a:ea typeface="Microsoft YaHei"/>
              </a:rPr>
              <a:t>场景创新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353175" y="1847850"/>
            <a:ext cx="2314575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国内少有的五主体全场景覆盖，</a:t>
            </a:r>
            <a:r>
              <a:rPr lang="en-US" sz="1013">
                <a:solidFill>
                  <a:srgbClr val="FFFFFF"/>
                </a:solidFill>
                <a:latin typeface="Microsoft YaHei"/>
                <a:ea typeface="Microsoft YaHei"/>
              </a:rPr>
              <a:t>99 </a:t>
            </a: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项细分场景从宏观治理到微观生活，模块化沉淀、快速扩展。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9010650" y="1323975"/>
            <a:ext cx="2647950" cy="4819650"/>
          </a:xfrm>
          <a:prstGeom prst="roundRect">
            <a:avLst>
              <a:gd name="adj" fmla="val 3597"/>
            </a:avLst>
          </a:prstGeom>
          <a:solidFill>
            <a:srgbClr val="44546A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9182100" y="1495425"/>
            <a:ext cx="2305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体验创新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182100" y="1847850"/>
            <a:ext cx="2305050" cy="790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13">
                <a:solidFill>
                  <a:srgbClr val="FFFFFF"/>
                </a:solidFill>
                <a:latin typeface="Microsoft YaHei"/>
                <a:ea typeface="Microsoft YaHei"/>
              </a:rPr>
              <a:t>零学习成本自然语言交互，无菜单、无手册，说话即用，适配全年龄段用户，结果可视化一目了然。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724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判断：四重创新叠加，构建「体验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成本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场景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数据」复合壁垒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10 / 22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9" name="" descr="&lt;Slide style={{ background: '#062032', padding: '64px 64px' }}&gt;&#10;  &lt;Box style={{ flexDirection: 'row', flex: 1, alignItems: 'center', gap: 52 }}&gt;&#10;    &lt;Text style={{ fontSize: 250, fontWeight: 'bold', color: 'rgba(255,255,255,0.12)', lineHeight: 1 }}&gt;03&lt;/Text&gt;&#10;    &lt;Box&gt;&#10;      &lt;Text style={{ fontSize: 46, fontWeight: 'bold', color: '#FFFFFF', letterSpacing: 2 }}&gt;商业与扩张&lt;/Text&gt;&#10;      &lt;Text style={{ fontSize: 20, color: '#99BDED', marginTop: 14, letterSpacing: 1 }}&gt;Business &amp; Scale · 商业模式 / 定价 / 可复制性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048125" y="2981325"/>
            <a:ext cx="43148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商业与扩张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048125" y="3648075"/>
            <a:ext cx="4314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Business &amp; Scale ·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商业模式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定价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style={{ background: '#FFFFFF', padding: '52px 56px 40px' }}&gt;&#10;  &lt;Text style={{ fontSize: 32, fontWeight: 'bold', color: '#061F32', lineHeight: 1.3 }}&gt;免费获客 → 增值转化 → 生态延伸，三层结构商业闭环&lt;/Text&gt;&#10;  &lt;Box style={{ height: 1, background: '#061F32', marginTop: 14, marginBottom: 22 }} /&gt;&#10;  &lt;Box style={{ flexDirection: 'row', flex: 1, gap: 22 }}&gt;&#10;    &lt;Box style={{ flex: 1.4, justifyContent: 'space-between' }}&gt;&#10;      &lt;Box style={{ flexDirection: 'row', gap: 14, alignItems: 'flex-start' }}&gt;&#10;        &lt;Text style={{ fontSize: 38, fontWeight: 'bold', color: '#061F32', lineHeight: 1 }}&gt;01&lt;/Text&gt;&#10;        &lt;Box style={{ flex: 1 }}&gt;&#10;          &lt;Text style={{ fontSize: 18, fontWeight: 'bold', color: '#061F32' }}&gt;免费获客（基础服务层）&lt;/Text&gt;&#10;          &lt;Text style={{ fontSize: 13.5, color: '#44546A', marginTop: 4, lineHeight: 1.6 }}&gt;公共基础空间决策服务免费，快速沉淀五端用户与使用数据。&lt;/Text&gt;&#10;        &lt;/Box&gt;&#10;      &lt;/Box&gt;&#10;      &lt;Box style={{ flexDirection: 'row', gap: 14, alignItems: 'flex-start' }}&gt;&#10;        &lt;Text style={{ fontSize: 38, fontWeight: 'bold', color: '#001965', lineHeight: 1 }}&gt;02&lt;/Text&gt;&#10;        &lt;Box style={{ flex: 1 }}&gt;&#10;          &lt;Text style={{ fontSize: 18, fontWeight: 'bold', color: '#061F32' }}&gt;增值转化（专业服务层）&lt;/Text&gt;&#10;          &lt;Text style={{ fontSize: 13.5, color: '#44546A', marginTop: 4, lineHeight: 1.6 }}&gt;企业会员、深度报告、申报辅助、商户合规套餐，分层付费。&lt;/Text&gt;&#10;        &lt;/Box&gt;&#10;      &lt;/Box&gt;&#10;      &lt;Box style={{ flexDirection: 'row', gap: 14, alignItems: 'flex-start' }}&gt;&#10;        &lt;Text style={{ fontSize: 38, fontWeight: 'bold', color: '#08A6F6', lineHeight: 1 }}&gt;03&lt;/Text&gt;&#10;        &lt;Box style={{ flex: 1 }}&gt;&#10;          &lt;Text style={{ fontSize: 18, fontWeight: 'bold', color: '#061F32' }}&gt;生态延伸（定制 / 开放层）&lt;/Text&gt;&#10;          &lt;Text style={{ fontSize: 13.5, color: '#44546A', marginTop: 4, lineHeight: 1.6 }}&gt;政府定制项目、API 授权、引擎私有化、联合运营分成。&lt;/Text&gt;&#10;        &lt;/Box&gt;&#10;      &lt;/Box&gt;&#10;    &lt;/Box&gt;&#10;    &lt;Box style={{ flex: 1.4, justifyContent: 'center' }}&gt;&#10;      &lt;Text style={{ fontSize: 15, fontWeight: 'bold', color: '#001965', marginBottom: 12 }}&gt;分客群盈利模式&lt;/Text&gt;&#10;      &lt;Box style={{ flexDirection: 'row', flexWrap: 'wrap', gap: 8 }}&gt;&#10;        &lt;Text style={{ fontSize: 12.5, background: '#f4f7fb', borderRadius: 6, padding: '6px 9px', color: '#061F32' }}&gt;政府：建设费+运维费+课题费&lt;/Text&gt;&#10;        &lt;Text style={{ fontSize: 12.5, background: '#f4f7fb', borderRadius: 6, padding: '6px 9px', color: '#061F32' }}&gt;企业：会员订阅+报告+申报辅助&lt;/Text&gt;&#10;        &lt;Text style={{ fontSize: 12.5, background: '#f4f7fb', borderRadius: 6, padding: '6px 9px', color: '#061F32' }}&gt;商户：合规套餐+代办佣金&lt;/Text&gt;&#10;        &lt;Text style={{ fontSize: 12.5, background: '#f4f7fb', borderRadius: 6, padding: '6px 9px', color: '#061F32' }}&gt;市民文旅：会员+导流佣金&lt;/Text&gt;&#10;        &lt;Text style={{ fontSize: 12.5, background: '#f4f7fb', borderRadius: 6, padding: '6px 9px', color: '#061F32' }}&gt;生态：API+私有化+分成&lt;/Text&gt;&#10;      &lt;/Box&gt;&#10;    &lt;/Box&gt;&#10;  &lt;/Box&gt;&#10;  &lt;Box style={{ flexDirection: 'row', justifyContent: 'space-between', marginTop: 18 }}&gt;&#10;    &lt;Text style={{ fontSize: 13, color: '#808080' }}&gt;判断：三层结构兼顾公益属性与商业可持续，B/C/G 三端统一入口避免重复建设&lt;/Text&gt;&#10;    &lt;Text style={{ fontSize: 14, color: '#808080' }}&gt;12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免费获客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→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增值转化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→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生态延伸，三层结构商业闭环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476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061F32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4425" y="132397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Microsoft YaHei"/>
                <a:ea typeface="Microsoft YaHei"/>
              </a:rPr>
              <a:t>免费获客（基础服务层）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114425" y="1571625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4546A"/>
                </a:solidFill>
                <a:latin typeface="Microsoft YaHei"/>
                <a:ea typeface="Microsoft YaHei"/>
              </a:rPr>
              <a:t>公共基础空间决策服务免费，快速沉淀五端用户与使用数据。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533400" y="3486150"/>
            <a:ext cx="4476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001965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14425" y="3486150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Microsoft YaHei"/>
                <a:ea typeface="Microsoft YaHei"/>
              </a:rPr>
              <a:t>增值转化（专业服务层）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14425" y="3733800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4546A"/>
                </a:solidFill>
                <a:latin typeface="Microsoft YaHei"/>
                <a:ea typeface="Microsoft YaHei"/>
              </a:rPr>
              <a:t>企业会员、深度报告、申报辅助、商户合规套餐，分层付费。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33400" y="5648325"/>
            <a:ext cx="4476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08A6F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114425" y="5648325"/>
            <a:ext cx="4876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61F32"/>
                </a:solidFill>
                <a:latin typeface="Microsoft YaHei"/>
                <a:ea typeface="Microsoft YaHei"/>
              </a:rPr>
              <a:t>生态延伸（定制</a:t>
            </a: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061F32"/>
                </a:solidFill>
                <a:latin typeface="Microsoft YaHei"/>
                <a:ea typeface="Microsoft YaHei"/>
              </a:rPr>
              <a:t>开放层）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4425" y="5895975"/>
            <a:ext cx="48768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4546A"/>
                </a:solidFill>
                <a:latin typeface="Microsoft YaHei"/>
                <a:ea typeface="Microsoft YaHei"/>
              </a:rPr>
              <a:t>政府定制项目、</a:t>
            </a:r>
            <a:r>
              <a:rPr lang="en-US" sz="1013">
                <a:solidFill>
                  <a:srgbClr val="44546A"/>
                </a:solidFill>
                <a:latin typeface="Microsoft YaHei"/>
                <a:ea typeface="Microsoft YaHei"/>
              </a:rPr>
              <a:t>API </a:t>
            </a:r>
            <a:r>
              <a:rPr lang="zh-CN" sz="1013">
                <a:solidFill>
                  <a:srgbClr val="44546A"/>
                </a:solidFill>
                <a:latin typeface="Microsoft YaHei"/>
                <a:ea typeface="Microsoft YaHei"/>
              </a:rPr>
              <a:t>授权、引擎私有化、联合运营分成。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200775" y="3295650"/>
            <a:ext cx="5457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分客群盈利模式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200775" y="3581400"/>
            <a:ext cx="1781175" cy="257175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200775" y="3581400"/>
            <a:ext cx="1781175" cy="257175"/>
          </a:xfrm>
          <a:prstGeom prst="rect"/>
        </p:spPr>
        <p:txBody>
          <a:bodyPr wrap="none" lIns="64294" tIns="42863" rIns="64294" bIns="42863"/>
          <a:p>
            <a:pPr>
              <a:lnSpc>
                <a:spcPct val="100000"/>
              </a:lnSpc>
            </a:pP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政府：建设费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运维费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课题费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8058150" y="3581400"/>
            <a:ext cx="1905000" cy="257175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058150" y="3581400"/>
            <a:ext cx="1905000" cy="257175"/>
          </a:xfrm>
          <a:prstGeom prst="rect"/>
        </p:spPr>
        <p:txBody>
          <a:bodyPr wrap="none" lIns="64294" tIns="42863" rIns="64294" bIns="42863"/>
          <a:p>
            <a:pPr>
              <a:lnSpc>
                <a:spcPct val="100000"/>
              </a:lnSpc>
            </a:pP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企业：会员订阅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报告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申报辅助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10039350" y="3581400"/>
            <a:ext cx="1571625" cy="257175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039350" y="3581400"/>
            <a:ext cx="1571625" cy="257175"/>
          </a:xfrm>
          <a:prstGeom prst="rect"/>
        </p:spPr>
        <p:txBody>
          <a:bodyPr wrap="none" lIns="64294" tIns="42863" rIns="64294" bIns="42863"/>
          <a:p>
            <a:pPr>
              <a:lnSpc>
                <a:spcPct val="100000"/>
              </a:lnSpc>
            </a:pP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商户：合规套餐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代办佣金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200775" y="3914775"/>
            <a:ext cx="1571625" cy="257175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200775" y="3914775"/>
            <a:ext cx="1571625" cy="257175"/>
          </a:xfrm>
          <a:prstGeom prst="rect"/>
        </p:spPr>
        <p:txBody>
          <a:bodyPr wrap="none" lIns="64294" tIns="42863" rIns="64294" bIns="42863"/>
          <a:p>
            <a:pPr>
              <a:lnSpc>
                <a:spcPct val="100000"/>
              </a:lnSpc>
            </a:pP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市民文旅：会员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导流佣金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848600" y="3914775"/>
            <a:ext cx="1495425" cy="257175"/>
          </a:xfrm>
          <a:prstGeom prst="roundRect">
            <a:avLst>
              <a:gd name="adj" fmla="val 2222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848600" y="3914775"/>
            <a:ext cx="1495425" cy="257175"/>
          </a:xfrm>
          <a:prstGeom prst="rect"/>
        </p:spPr>
        <p:txBody>
          <a:bodyPr wrap="none" lIns="64294" tIns="42863" rIns="64294" bIns="42863"/>
          <a:p>
            <a:pPr>
              <a:lnSpc>
                <a:spcPct val="100000"/>
              </a:lnSpc>
            </a:pP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生态：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API+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私有化</a:t>
            </a:r>
            <a:r>
              <a:rPr lang="en-US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061F32"/>
                </a:solidFill>
                <a:highlight>
                  <a:srgbClr val="F4F7FB"/>
                </a:highlight>
                <a:latin typeface="Microsoft YaHei"/>
                <a:ea typeface="Microsoft YaHei"/>
              </a:rPr>
              <a:t>分成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436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判断：三层结构兼顾公益属性与商业可持续，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B/C/G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三端统一入口避免重复建设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12 / 22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background: '#FFFFFF', padding: '52px 56px 40px' }}&gt;&#10;  &lt;Text style={{ fontSize: 32, fontWeight: 'bold', color: '#061F32', lineHeight: 1.3 }}&gt;分层定价：从 ¥99 会员到 ¥500 万政府项目全覆盖&lt;/Text&gt;&#10;  &lt;Box style={{ height: 1, background: '#061F32', marginTop: 14, marginBottom: 20 }} /&gt;&#10;  &lt;Box style={{ flexDirection: 'row', flex: 1, gap: 16 }}&gt;&#10;    &lt;Box style={{ flex: 1, background: '#f4f7fb', borderRadius: 10, padding: 16 }}&gt;&#10;      &lt;Text style={{ fontSize: 13, color: '#44546A' }}&gt;市民 / 游客&lt;/Text&gt;&#10;      &lt;Text style={{ fontSize: 24, fontWeight: 'bold', color: '#061F32', marginTop: 2 }}&gt;¥99&lt;span style={{ fontSize: 14, color: '#44546A' }}&gt; / 年&lt;/span&gt;&lt;/Text&gt;&#10;      &lt;Text style={{ fontSize: 10, color: '#808080', marginTop: 1 }}&gt;（具体按实际填写）&lt;/Text&gt;&#10;      &lt;Text style={{ fontSize: 12.5, color: '#44546A', lineHeight: 1.6, marginTop: 6 }}&gt;高级分析报告、无广告、优先服务&lt;/Text&gt;&#10;    &lt;/Box&gt;&#10;    &lt;Box style={{ flex: 1, background: '#f4f7fb', borderRadius: 10, padding: 16 }}&gt;&#10;      &lt;Text style={{ fontSize: 13, color: '#44546A' }}&gt;企业 · 标准版&lt;/Text&gt;&#10;      &lt;Text style={{ fontSize: 24, fontWeight: 'bold', color: '#061F32', marginTop: 2 }}&gt;¥9,800&lt;span style={{ fontSize: 14, color: '#44546A' }}&gt; / 年&lt;/span&gt;&lt;/Text&gt;&#10;      &lt;Text style={{ fontSize: 10, color: '#808080', marginTop: 1 }}&gt;（具体按实际填写）&lt;/Text&gt;&#10;      &lt;Text style={{ fontSize: 12.5, color: '#44546A', lineHeight: 1.6, marginTop: 6 }}&gt;基础选址 / 政策查询、月度报告&lt;/Text&gt;&#10;    &lt;/Box&gt;&#10;    &lt;Box style={{ flex: 1, background: '#f4f7fb', borderRadius: 10, padding: 16 }}&gt;&#10;      &lt;Text style={{ fontSize: 13, color: '#44546A' }}&gt;企业 · 专业版&lt;/Text&gt;&#10;      &lt;Text style={{ fontSize: 24, fontWeight: 'bold', color: '#061F32', marginTop: 2 }}&gt;¥39,800&lt;span style={{ fontSize: 14, color: '#44546A' }}&gt; / 年&lt;/span&gt;&lt;/Text&gt;&#10;      &lt;Text style={{ fontSize: 10, color: '#808080', marginTop: 1 }}&gt;（具体按实际填写）&lt;/Text&gt;&#10;      &lt;Text style={{ fontSize: 12.5, color: '#44546A', lineHeight: 1.6, marginTop: 6 }}&gt;深度分析、商圈报告、政策申报辅助&lt;/Text&gt;&#10;    &lt;/Box&gt;&#10;    &lt;Box style={{ flex: 1, background: '#f4f7fb', borderRadius: 10, padding: 16 }}&gt;&#10;      &lt;Text style={{ fontSize: 13, color: '#44546A' }}&gt;企业 · 旗舰版&lt;/Text&gt;&#10;      &lt;Text style={{ fontSize: 24, fontWeight: 'bold', color: '#061F32', marginTop: 2 }}&gt;¥98,000&lt;span style={{ fontSize: 14, color: '#44546A' }}&gt; / 年&lt;/span&gt;&lt;/Text&gt;&#10;      &lt;Text style={{ fontSize: 10, color: '#808080', marginTop: 1 }}&gt;（具体按实际填写）&lt;/Text&gt;&#10;      &lt;Text style={{ fontSize: 12.5, color: '#44546A', lineHeight: 1.6, marginTop: 6 }}&gt;定制产业方案、专属顾问、API 接入&lt;/Text&gt;&#10;    &lt;/Box&gt;&#10;    &lt;Box style={{ flex: 1, background: '#f4f7fb', borderRadius: 10, padding: 16 }}&gt;&#10;      &lt;Text style={{ fontSize: 13, color: '#44546A' }}&gt;商户合规套餐&lt;/Text&gt;&#10;      &lt;Text style={{ fontSize: 24, fontWeight: 'bold', color: '#061F32', marginTop: 2 }}&gt;¥1,999&lt;span style={{ fontSize: 14, color: '#44546A' }}&gt; / 年&lt;/span&gt;&lt;/Text&gt;&#10;      &lt;Text style={{ fontSize: 10, color: '#808080', marginTop: 1 }}&gt;（具体按实际填写）&lt;/Text&gt;&#10;      &lt;Text style={{ fontSize: 12.5, color: '#44546A', lineHeight: 1.6, marginTop: 6 }}&gt;合规自查、办事指引、政策提醒&lt;/Text&gt;&#10;    &lt;/Box&gt;&#10;  &lt;/Box&gt;&#10;  &lt;Box style={{ flexDirection: 'row', gap: 16, marginTop: 16 }}&gt;&#10;    &lt;Box style={{ flex: 1, borderTop: '2px solid #001965', paddingTop: 10 }}&gt;&#10;      &lt;Text style={{ fontSize: 13, color: '#44546A' }}&gt;政府 · 部门级&lt;/Text&gt;&#10;      &lt;Text style={{ fontSize: 18, fontWeight: 'bold', color: '#001965' }}&gt;¥50 万级&lt;/Text&gt;&#10;      &lt;Text style={{ fontSize: 10, color: '#808080', marginTop: 1 }}&gt;（具体按实际填写）&lt;/Text&gt;&#10;    &lt;/Box&gt;&#10;    &lt;Box style={{ flex: 1, borderTop: '2px solid #001965', paddingTop: 10 }}&gt;&#10;      &lt;Text style={{ fontSize: 13, color: '#44546A' }}&gt;政府 · 区县 / 街道级&lt;/Text&gt;&#10;      &lt;Text style={{ fontSize: 18, fontWeight: 'bold', color: '#001965' }}&gt;¥200 万级&lt;/Text&gt;&#10;      &lt;Text style={{ fontSize: 10, color: '#808080', marginTop: 1 }}&gt;（具体按实际填写）&lt;/Text&gt;&#10;    &lt;/Box&gt;&#10;    &lt;Box style={{ flex: 1, borderTop: '2px solid #001965', paddingTop: 10 }}&gt;&#10;      &lt;Text style={{ fontSize: 13, color: '#44546A' }}&gt;政府 · 市级平台&lt;/Text&gt;&#10;      &lt;Text style={{ fontSize: 18, fontWeight: 'bold', color: '#001965' }}&gt;¥500 万级&lt;/Text&gt;&#10;      &lt;Text style={{ fontSize: 10, color: '#808080', marginTop: 1 }}&gt;（具体按实际填写）&lt;/Text&gt;&#10;    &lt;/Box&gt;&#10;  &lt;/Box&gt;&#10;  &lt;Box style={{ flexDirection: 'row', justifyContent: 'space-between', marginTop: 14 }}&gt;&#10;    &lt;Text style={{ fontSize: 13, color: '#808080' }}&gt;判断：低门槛会员获客 + 高客单政府项目锚定营收，价格为传统方案的约 1/10（具体按实际填写）&lt;/Text&gt;&#10;    &lt;Text style={{ fontSize: 14, color: '#808080' }}&gt;13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分层定价：从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¥99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会员到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¥500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万政府项目全覆盖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533400" y="1304925"/>
            <a:ext cx="2105025" cy="4124325"/>
          </a:xfrm>
          <a:prstGeom prst="roundRect">
            <a:avLst>
              <a:gd name="adj" fmla="val 452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85800" y="1457325"/>
            <a:ext cx="1800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市民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游客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85800" y="1628775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¥99</a:t>
            </a:r>
            <a:r>
              <a:rPr lang="en-US" sz="1050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44546A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1914525"/>
            <a:ext cx="1800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2085975"/>
            <a:ext cx="18002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高级分析报告、无广告、优先服务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2790825" y="1304925"/>
            <a:ext cx="2105025" cy="4124325"/>
          </a:xfrm>
          <a:prstGeom prst="roundRect">
            <a:avLst>
              <a:gd name="adj" fmla="val 452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2943225" y="1457325"/>
            <a:ext cx="1800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企业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标准版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2943225" y="1628775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¥9,800</a:t>
            </a:r>
            <a:r>
              <a:rPr lang="en-US" sz="1050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44546A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2943225" y="1914525"/>
            <a:ext cx="1800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43225" y="2085975"/>
            <a:ext cx="18002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基础选址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政策查询、月度报告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5048250" y="1304925"/>
            <a:ext cx="2095500" cy="4124325"/>
          </a:xfrm>
          <a:prstGeom prst="roundRect">
            <a:avLst>
              <a:gd name="adj" fmla="val 454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5200650" y="1457325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企业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专业版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5200650" y="1628775"/>
            <a:ext cx="1790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¥39,800</a:t>
            </a:r>
            <a:r>
              <a:rPr lang="en-US" sz="1050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44546A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5200650" y="1914525"/>
            <a:ext cx="17907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200650" y="2085975"/>
            <a:ext cx="17907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深度分析、商圈报告、政策申报辅助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7296150" y="1304925"/>
            <a:ext cx="2105025" cy="4124325"/>
          </a:xfrm>
          <a:prstGeom prst="roundRect">
            <a:avLst>
              <a:gd name="adj" fmla="val 452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448550" y="1457325"/>
            <a:ext cx="1800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企业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旗舰版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448550" y="1628775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¥98,000</a:t>
            </a:r>
            <a:r>
              <a:rPr lang="en-US" sz="1050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44546A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48550" y="1914525"/>
            <a:ext cx="1800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448550" y="2085975"/>
            <a:ext cx="180022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定制产业方案、专属顾问、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API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接入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9553575" y="1304925"/>
            <a:ext cx="2105025" cy="4124325"/>
          </a:xfrm>
          <a:prstGeom prst="roundRect">
            <a:avLst>
              <a:gd name="adj" fmla="val 4525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705975" y="1457325"/>
            <a:ext cx="1800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商户合规套餐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705975" y="1628775"/>
            <a:ext cx="1800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61F32"/>
                </a:solidFill>
                <a:latin typeface="Microsoft YaHei"/>
                <a:ea typeface="Microsoft YaHei"/>
              </a:rPr>
              <a:t>¥1,999</a:t>
            </a:r>
            <a:r>
              <a:rPr lang="en-US" sz="1050" b="1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44546A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9705975" y="1914525"/>
            <a:ext cx="180022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705975" y="2085975"/>
            <a:ext cx="180022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合规自查、办事指引、政策提醒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533400" y="5581650"/>
            <a:ext cx="3609975" cy="619125"/>
          </a:xfrm>
          <a:custGeom>
            <a:pathLst>
              <a:path w="379" h="65">
                <a:moveTo>
                  <a:pt x="0" y="0"/>
                </a:moveTo>
                <a:lnTo>
                  <a:pt x="379" y="0"/>
                </a:lnTo>
                <a:lnTo>
                  <a:pt x="379" y="2"/>
                </a:lnTo>
                <a:lnTo>
                  <a:pt x="0" y="2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533400" y="5695950"/>
            <a:ext cx="3609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政府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部门级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533400" y="5848350"/>
            <a:ext cx="3609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01965"/>
                </a:solidFill>
                <a:latin typeface="Microsoft YaHei"/>
                <a:ea typeface="Microsoft YaHei"/>
              </a:rPr>
              <a:t>¥50 </a:t>
            </a:r>
            <a:r>
              <a:rPr lang="zh-CN" sz="1350" b="1">
                <a:solidFill>
                  <a:srgbClr val="001965"/>
                </a:solidFill>
                <a:latin typeface="Microsoft YaHei"/>
                <a:ea typeface="Microsoft YaHei"/>
              </a:rPr>
              <a:t>万级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533400" y="6067425"/>
            <a:ext cx="3609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295775" y="5581650"/>
            <a:ext cx="3600450" cy="619125"/>
          </a:xfrm>
          <a:custGeom>
            <a:pathLst>
              <a:path w="378" h="65">
                <a:moveTo>
                  <a:pt x="0" y="0"/>
                </a:moveTo>
                <a:lnTo>
                  <a:pt x="378" y="0"/>
                </a:lnTo>
                <a:lnTo>
                  <a:pt x="378" y="2"/>
                </a:lnTo>
                <a:lnTo>
                  <a:pt x="0" y="2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295775" y="5695950"/>
            <a:ext cx="3600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政府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区县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街道级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295775" y="5848350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01965"/>
                </a:solidFill>
                <a:latin typeface="Microsoft YaHei"/>
                <a:ea typeface="Microsoft YaHei"/>
              </a:rPr>
              <a:t>¥200 </a:t>
            </a:r>
            <a:r>
              <a:rPr lang="zh-CN" sz="1350" b="1">
                <a:solidFill>
                  <a:srgbClr val="001965"/>
                </a:solidFill>
                <a:latin typeface="Microsoft YaHei"/>
                <a:ea typeface="Microsoft YaHei"/>
              </a:rPr>
              <a:t>万级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295775" y="6067425"/>
            <a:ext cx="36004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8048625" y="5581650"/>
            <a:ext cx="3609975" cy="619125"/>
          </a:xfrm>
          <a:custGeom>
            <a:pathLst>
              <a:path w="379" h="65">
                <a:moveTo>
                  <a:pt x="0" y="0"/>
                </a:moveTo>
                <a:lnTo>
                  <a:pt x="379" y="0"/>
                </a:lnTo>
                <a:lnTo>
                  <a:pt x="379" y="2"/>
                </a:lnTo>
                <a:lnTo>
                  <a:pt x="0" y="2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048625" y="5695950"/>
            <a:ext cx="3609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政府</a:t>
            </a:r>
            <a:r>
              <a:rPr lang="en-US" sz="975">
                <a:solidFill>
                  <a:srgbClr val="44546A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市级平台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048625" y="5848350"/>
            <a:ext cx="3609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01965"/>
                </a:solidFill>
                <a:latin typeface="Microsoft YaHei"/>
                <a:ea typeface="Microsoft YaHei"/>
              </a:rPr>
              <a:t>¥500 </a:t>
            </a:r>
            <a:r>
              <a:rPr lang="zh-CN" sz="1350" b="1">
                <a:solidFill>
                  <a:srgbClr val="001965"/>
                </a:solidFill>
                <a:latin typeface="Microsoft YaHei"/>
                <a:ea typeface="Microsoft YaHei"/>
              </a:rPr>
              <a:t>万级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048625" y="6067425"/>
            <a:ext cx="3609975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5429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判断：低门槛会员获客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高客单政府项目锚定营收，价格为传统方案的约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1/10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（具体按实际填写）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13 / 22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03" name="" descr="&lt;Slide style={{ background: '#FFFFFF', padding: '52px 56px 40px' }}&gt;&#10;  &lt;Text style={{ fontSize: 32, fontWeight: 'bold', color: '#061F32', lineHeight: 1.3 }}&gt;复制成本仅为传统方案 15%–20%，四级城市分级扩张&lt;/Text&gt;&#10;  &lt;Box style={{ height: 1, background: '#061F32', marginTop: 14, marginBottom: 22 }} /&gt;&#10;  &lt;Box style={{ flexDirection: 'row', flex: 1, gap: 16 }}&gt;&#10;    &lt;Box style={{ flex: 1.3 }}&gt;&#10;      &lt;Text style={{ fontSize: 15, fontWeight: 'bold', color: '#001965', marginBottom: 12 }}&gt;三层可复制性&lt;/Text&gt;&#10;      &lt;Box style={{ flexDirection: 'row', gap: 12, marginBottom: 12 }}&gt;&#10;        &lt;Box style={{ flex: 1, background: '#f4f7fb', borderRadius: 8, padding: 12 }}&gt;&#10;          &lt;Text style={{ fontSize: 14, fontWeight: 'bold', color: '#061F32' }}&gt;技术可复制&lt;/Text&gt;&#10;          &lt;Text style={{ fontSize: 12.5, color: '#44546A', lineHeight: 1.6, marginTop: 4 }}&gt;全开源栈，2–3 个月完成新城市部署与数据适配&lt;/Text&gt;&#10;        &lt;/Box&gt;&#10;        &lt;Box style={{ flex: 1, background: '#f4f7fb', borderRadius: 8, padding: 12 }}&gt;&#10;          &lt;Text style={{ fontSize: 14, fontWeight: 'bold', color: '#061F32' }}&gt;业务可复制&lt;/Text&gt;&#10;          &lt;Text style={{ fontSize: 12.5, color: '#44546A', lineHeight: 1.6, marginTop: 4 }}&gt;99 项模块化，仅替换本地数据，1 个月完成地级市适配&lt;/Text&gt;&#10;        &lt;/Box&gt;&#10;      &lt;/Box&gt;&#10;      &lt;Box style={{ background: '#f4f7fb', borderRadius: 8, padding: 12 }}&gt;&#10;        &lt;Text style={{ fontSize: 14, fontWeight: 'bold', color: '#061F32' }}&gt;模式可复制&lt;/Text&gt;&#10;        &lt;Text style={{ fontSize: 12.5, color: '#44546A', lineHeight: 1.6, marginTop: 4 }}&gt;免费+增值+定制三层模式与渠道 / 销售 / 运营体系整体复制，适配不同能级城市。&lt;/Text&gt;&#10;      &lt;/Box&gt;&#10;      &lt;Box style={{ marginTop: 14 }}&gt;&#10;        &lt;Text style={{ fontSize: 64, fontWeight: 'bold', color: '#08A6F6', lineHeight: 1 }}&gt;15–20%&lt;/Text&gt;&#10;        &lt;Text style={{ fontSize: 13, color: '#44546A' }}&gt;技术复制成本占传统定制方案比例&lt;/Text&gt;&#10;      &lt;/Box&gt;&#10;    &lt;/Box&gt;&#10;    &lt;Box style={{ flex: 1.7 }}&gt;&#10;      &lt;Text style={{ fontSize: 15, fontWeight: 'bold', color: '#001965', marginBottom: 12 }}&gt;四阶段扩张路径&lt;/Text&gt;&#10;      &lt;Box style={{ flexDirection: 'row', alignItems: 'center', gap: 0 }}&gt;&#10;        &lt;Box style={{ flex: 1, alignItems: 'center' }}&gt;&#10;          &lt;Box style={{ width: 44, height: 44, borderRadius: 22, background: '#061F32', alignItems: 'center', justifyContent: 'center' }}&gt;&lt;Text style={{ fontSize: 18, fontWeight: 'bold', color: '#FFFFFF' }}&gt;1&lt;/Text&gt;&lt;/Box&gt;&#10;          &lt;Text style={{ fontSize: 13, fontWeight: 'bold', color: '#061F32', marginTop: 8, textAlign: 'center' }}&gt;西安深耕&lt;/Text&gt;&#10;        &lt;/Box&gt;&#10;        &lt;Box style={{ flex: 1, alignItems: 'center' }}&gt;&#10;          &lt;Box style={{ width: 44, height: 44, borderRadius: 22, background: '#001965', alignItems: 'center', justifyContent: 'center' }}&gt;&lt;Text style={{ fontSize: 18, fontWeight: 'bold', color: '#FFFFFF' }}&gt;2&lt;/Text&gt;&lt;/Box&gt;&#10;          &lt;Text style={{ fontSize: 13, fontWeight: 'bold', color: '#061F32', marginTop: 8, textAlign: 'center' }}&gt;陕西复制&lt;/Text&gt;&#10;        &lt;/Box&gt;&#10;        &lt;Box style={{ flex: 1, alignItems: 'center' }}&gt;&#10;          &lt;Box style={{ width: 44, height: 44, borderRadius: 22, background: '#08A6F6', alignItems: 'center', justifyContent: 'center' }}&gt;&lt;Text style={{ fontSize: 18, fontWeight: 'bold', color: '#FFFFFF' }}&gt;3&lt;/Text&gt;&lt;/Box&gt;&#10;          &lt;Text style={{ fontSize: 13, fontWeight: 'bold', color: '#061F32', marginTop: 8, textAlign: 'center' }}&gt;西北扩张&lt;/Text&gt;&#10;        &lt;/Box&gt;&#10;        &lt;Box style={{ flex: 1, alignItems: 'center' }}&gt;&#10;          &lt;Box style={{ width: 44, height: 44, borderRadius: 22, background: '#99BDED', alignItems: 'center', justifyContent: 'center' }}&gt;&lt;Text style={{ fontSize: 18, fontWeight: 'bold', color: '#061F32' }}&gt;4&lt;/Text&gt;&lt;/Box&gt;&#10;          &lt;Text style={{ fontSize: 13, fontWeight: 'bold', color: '#061F32', marginTop: 8, textAlign: 'center' }}&gt;全国输出&lt;/Text&gt;&#10;        &lt;/Box&gt;&#10;      &lt;/Box&gt;&#10;      &lt;Box style={{ flexDirection: 'row', justifyContent: 'space-between', marginTop: 12 }}&gt;&#10;        &lt;Text style={{ fontSize: 12, color: '#44546A' }}&gt;标准模板&lt;/Text&gt;&#10;        &lt;Text style={{ fontSize: 12, color: '#44546A' }}&gt;咸阳/宝鸡/榆林&lt;/Text&gt;&#10;        &lt;Text style={{ fontSize: 12, color: '#44546A' }}&gt;兰州/银川/西宁&lt;/Text&gt;&#10;        &lt;Text style={{ fontSize: 12, color: '#44546A' }}&gt;中西部城市&lt;/Text&gt;&#10;      &lt;/Box&gt;&#10;    &lt;/Box&gt;&#10;  &lt;/Box&gt;&#10;  &lt;Box style={{ flexDirection: 'row', justifyContent: 'space-between', marginTop: 16 }}&gt;&#10;    &lt;Text style={{ fontSize: 13, color: '#808080' }}&gt;判断：轻资产 + 模块化 + 三层模式，构成「先发 + 低成本」的扩张飞轮&lt;/Text&gt;&#10;    &lt;Text style={{ fontSize: 14, color: '#808080' }}&gt;14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复制成本仅为传统方案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15%–20%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，四级城市分级扩张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4752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三层可复制性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533400" y="1609725"/>
            <a:ext cx="2324100" cy="885825"/>
          </a:xfrm>
          <a:prstGeom prst="roundRect">
            <a:avLst>
              <a:gd name="adj" fmla="val 860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647700" y="1724025"/>
            <a:ext cx="2095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技术可复制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47700" y="1924050"/>
            <a:ext cx="20955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全开源栈，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2–3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个月完成新城市部署与数据适配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2971800" y="1609725"/>
            <a:ext cx="2314575" cy="885825"/>
          </a:xfrm>
          <a:prstGeom prst="roundRect">
            <a:avLst>
              <a:gd name="adj" fmla="val 8602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086100" y="1724025"/>
            <a:ext cx="2085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业务可复制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086100" y="1924050"/>
            <a:ext cx="20859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99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项模块化，仅替换本地数据，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1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个月完成地级市适配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33400" y="2609850"/>
            <a:ext cx="4752975" cy="657225"/>
          </a:xfrm>
          <a:prstGeom prst="roundRect">
            <a:avLst>
              <a:gd name="adj" fmla="val 11594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47700" y="2724150"/>
            <a:ext cx="4524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模式可复制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47700" y="2924175"/>
            <a:ext cx="45243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免费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增值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+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定制三层模式与渠道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销售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运营体系整体复制，适配不同能级城市。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33400" y="3400425"/>
            <a:ext cx="47529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08A6F6"/>
                </a:solidFill>
                <a:latin typeface="Microsoft YaHei"/>
                <a:ea typeface="Microsoft YaHei"/>
              </a:rPr>
              <a:t>15–20%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33400" y="4133850"/>
            <a:ext cx="4752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44546A"/>
                </a:solidFill>
                <a:latin typeface="Microsoft YaHei"/>
                <a:ea typeface="Microsoft YaHei"/>
              </a:rPr>
              <a:t>技术复制成本占传统定制方案比例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5438775" y="1323975"/>
            <a:ext cx="6219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01965"/>
                </a:solidFill>
                <a:latin typeface="Microsoft YaHei"/>
                <a:ea typeface="Microsoft YaHei"/>
              </a:rPr>
              <a:t>四阶段扩张路径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010275" y="1609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162675" y="17145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972175" y="21050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061F32"/>
                </a:solidFill>
                <a:latin typeface="Microsoft YaHei"/>
                <a:ea typeface="Microsoft YaHei"/>
              </a:rPr>
              <a:t>西安深耕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7562850" y="1609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1965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715250" y="17145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524750" y="21050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061F32"/>
                </a:solidFill>
                <a:latin typeface="Microsoft YaHei"/>
                <a:ea typeface="Microsoft YaHei"/>
              </a:rPr>
              <a:t>陕西复制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9124950" y="1609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8A6F6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9277350" y="17145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086850" y="21050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061F32"/>
                </a:solidFill>
                <a:latin typeface="Microsoft YaHei"/>
                <a:ea typeface="Microsoft YaHei"/>
              </a:rPr>
              <a:t>西北扩张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10677525" y="1609725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99BDED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0829925" y="17145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61F32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0639425" y="2105025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 b="1">
                <a:solidFill>
                  <a:srgbClr val="061F32"/>
                </a:solidFill>
                <a:latin typeface="Microsoft YaHei"/>
                <a:ea typeface="Microsoft YaHei"/>
              </a:rPr>
              <a:t>全国输出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438775" y="23717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标准模板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096125" y="2371725"/>
            <a:ext cx="790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咸阳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宝鸡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榆林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096375" y="2371725"/>
            <a:ext cx="7905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兰州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银川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/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西宁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087100" y="237172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中西部城市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971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判断：轻资产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模块化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三层模式，构成「先发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低成本」的扩张飞轮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14 / 22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background: '#062032', padding: '64px 64px' }}&gt;&#10;  &lt;Box style={{ flexDirection: 'row', flex: 1, alignItems: 'center', gap: 52 }}&gt;&#10;    &lt;Text style={{ fontSize: 250, fontWeight: 'bold', color: 'rgba(255,255,255,0.12)', lineHeight: 1 }}&gt;04&lt;/Text&gt;&#10;    &lt;Box&gt;&#10;      &lt;Text style={{ fontSize: 46, fontWeight: 'bold', color: '#FFFFFF', letterSpacing: 2 }}&gt;财务与规划&lt;/Text&gt;&#10;      &lt;Text style={{ fontSize: 20, color: '#99BDED', marginTop: 14, letterSpacing: 1 }}&gt;Finance &amp; Plan · 市场 / 落地 / 成效 / 财务 / 风险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2032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2943225" cy="2857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0" b="1">
                <a:solidFill>
                  <a:srgbClr val="FFFFFF">
                    <a:alpha val="12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048125" y="2981325"/>
            <a:ext cx="45815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 spc="150">
                <a:solidFill>
                  <a:srgbClr val="FFFFFF"/>
                </a:solidFill>
                <a:latin typeface="Microsoft YaHei"/>
                <a:ea typeface="Microsoft YaHei"/>
              </a:rPr>
              <a:t>财务与规划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048125" y="3648075"/>
            <a:ext cx="4581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Finance &amp; Plan ·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市场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落地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成效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财务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/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风险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143" name="" descr="&lt;Slide style={{ background: '#FFFFFF', padding: '52px 56px 40px' }}&gt;&#10;  &lt;Text style={{ fontSize: 32, fontWeight: 'bold', color: '#061F32', lineHeight: 1.3 }}&gt;西安本地 3 年可触达市场约 26 亿元，政府治理是最大盘&lt;/Text&gt;&#10;  &lt;Box style={{ height: 1, background: '#061F32', marginTop: 14, marginBottom: 22 }} /&gt;&#10;  &lt;Box style={{ flexDirection: 'row', flex: 1, gap: 40 }}&gt;&#10;    &lt;Box style={{ flex: 2, justifyContent: 'space-between', paddingVertical: 8 }}&gt;&#10;      &lt;Box&gt;&#10;        &lt;Box style={{ flexDirection: 'row', alignItems: 'flex-end', gap: 4 }}&gt;&#10;          &lt;Text style={{ fontSize: 44, fontWeight: 'bold', color: '#061F32', lineHeight: 1 }}&gt;约26亿&lt;/Text&gt;&#10;          &lt;Text style={{ fontSize: 20, color: '#44546A', marginBottom: 6 }}&gt;元&lt;/Text&gt;&#10;        &lt;/Box&gt;&#10;        &lt;Text style={{ fontSize: 16, color: '#44546A', marginTop: 8 }}&gt;西安本地 3 年可触达市场（具体按实际填写）&lt;/Text&gt;&#10;      &lt;/Box&gt;&#10;      &lt;Box&gt;&#10;        &lt;Box style={{ flexDirection: 'row', alignItems: 'flex-end', gap: 4 }}&gt;&#10;          &lt;Text style={{ fontSize: 68, fontWeight: 'bold', color: '#001965', lineHeight: 1 }}&gt;1300&lt;/Text&gt;&#10;          &lt;Text style={{ fontSize: 22, color: '#44546A', marginBottom: 8 }}&gt;万&lt;/Text&gt;&#10;        &lt;/Box&gt;&#10;        &lt;Text style={{ fontSize: 16, color: '#44546A', marginTop: 8 }}&gt;西安常住人口&lt;/Text&gt;&#10;      &lt;/Box&gt;&#10;      &lt;Box&gt;&#10;        &lt;Box style={{ flexDirection: 'row', alignItems: 'flex-end', gap: 4 }}&gt;&#10;          &lt;Text style={{ fontSize: 68, fontWeight: 'bold', color: '#08A6F6', lineHeight: 1 }}&gt;150&lt;/Text&gt;&#10;          &lt;Text style={{ fontSize: 22, color: '#44546A', marginBottom: 8 }}&gt;万&lt;/Text&gt;&#10;        &lt;/Box&gt;&#10;        &lt;Text style={{ fontSize: 16, color: '#44546A', marginTop: 8 }}&gt;市场主体（含 100 万个体户）&lt;/Text&gt;&#10;      &lt;/Box&gt;&#10;    &lt;/Box&gt;&#10;    &lt;Box style={{ flex: 3 }}&gt;&#10;      &lt;Chart&#10;        chartType='barChart'&#10;        barDirection='column'&#10;        style={{ flex: 1 }}&#10;        title='西安本地 3 年可触达市场（亿元，具体按实际填写）'&#10;        titleColor='#061F32'&#10;        showLegend={false}&#10;        showDataLabels={true}&#10;        axisColor='#808080'&#10;        dataLabelColor='#061F32'&#10;        colors={['#001965']}&#10;        background='#FFFFFF'&#10;        data={[&#10;          ['细分市场', '亿元'],&#10;          ['政府治理', 12],&#10;          ['企业服务', 8],&#10;          ['小微商户', 3],&#10;          ['市民文旅', 3],&#10;        ]}&#10;      /&gt;&#10;    &lt;/Box&gt;&#10;  &lt;/Box&gt;&#10;  &lt;Box style={{ flexDirection: 'row', justifyContent: 'space-between', marginTop: 14 }}&gt;&#10;    &lt;Text style={{ fontSize: 13, color: '#808080' }}&gt;Source：西安市政府公开统计公报口径 + 渗透率折算 · 判断：政府治理盘最大、企业服务增速最快（具体按实际填写）&lt;/Text&gt;&#10;    &lt;Text style={{ fontSize: 14, color: '#808080' }}&gt;16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西安本地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3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年可触达市场约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26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亿元，政府治理是最大盘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533400" y="1323975"/>
            <a:ext cx="1362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061F32"/>
                </a:solidFill>
                <a:latin typeface="Microsoft YaHei"/>
                <a:ea typeface="Microsoft YaHei"/>
              </a:rPr>
              <a:t>约</a:t>
            </a:r>
            <a:r>
              <a:rPr lang="en-US" sz="3300" b="1">
                <a:solidFill>
                  <a:srgbClr val="061F32"/>
                </a:solidFill>
                <a:latin typeface="Microsoft YaHei"/>
                <a:ea typeface="Microsoft YaHei"/>
              </a:rPr>
              <a:t>26</a:t>
            </a:r>
            <a:r>
              <a:rPr lang="zh-CN" sz="3300" b="1">
                <a:solidFill>
                  <a:srgbClr val="061F32"/>
                </a:solidFill>
                <a:latin typeface="Microsoft YaHei"/>
                <a:ea typeface="Microsoft YaHei"/>
              </a:rPr>
              <a:t>亿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933575" y="154305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4546A"/>
                </a:solidFill>
                <a:latin typeface="Microsoft YaHei"/>
                <a:ea typeface="Microsoft YaHei"/>
              </a:rPr>
              <a:t>元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533400" y="1905000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西安本地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3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年可触达市场（具体按实际填写）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533400" y="3095625"/>
            <a:ext cx="160020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001965"/>
                </a:solidFill>
                <a:latin typeface="Microsoft YaHei"/>
                <a:ea typeface="Microsoft YaHei"/>
              </a:rPr>
              <a:t>1300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171700" y="354330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533400" y="3952875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西安常住人口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33400" y="5133975"/>
            <a:ext cx="1200150" cy="7810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100" b="1">
                <a:solidFill>
                  <a:srgbClr val="08A6F6"/>
                </a:solidFill>
                <a:latin typeface="Microsoft YaHei"/>
                <a:ea typeface="Microsoft YaHei"/>
              </a:rPr>
              <a:t>150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771650" y="5581650"/>
            <a:ext cx="209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44546A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33400" y="5991225"/>
            <a:ext cx="4295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市场主体（含</a:t>
            </a:r>
            <a:r>
              <a:rPr lang="en-US" sz="1200">
                <a:solidFill>
                  <a:srgbClr val="44546A"/>
                </a:solidFill>
                <a:latin typeface="Microsoft YaHei"/>
                <a:ea typeface="Microsoft YaHei"/>
              </a:rPr>
              <a:t> 100 </a:t>
            </a:r>
            <a:r>
              <a:rPr lang="zh-CN" sz="1200">
                <a:solidFill>
                  <a:srgbClr val="44546A"/>
                </a:solidFill>
                <a:latin typeface="Microsoft YaHei"/>
                <a:ea typeface="Microsoft YaHei"/>
              </a:rPr>
              <a:t>万个体户）</a:t>
            </a:r>
            <a:endParaRPr/>
          </a:p>
        </p:txBody>
      </p:sp>
      <p:graphicFrame>
        <p:nvGraphicFramePr>
          <p:cNvPr id="156" name="156"/>
          <p:cNvGraphicFramePr/>
          <p:nvPr/>
        </p:nvGraphicFramePr>
        <p:xfrm rot="0" flipH="0" flipV="0">
          <a:off x="5210175" y="1323975"/>
          <a:ext cx="6448425" cy="48577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6496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：西安市政府公开统计公报口径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渗透率折算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判断：政府治理盘最大、企业服务增速最快（具体按实际填写）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16 / 22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59" name="" descr="&lt;Slide style={{ background: '#FFFFFF', padding: '52px 56px 40px' }}&gt;&#10;  &lt;Text style={{ fontSize: 32, fontWeight: 'bold', color: '#061F32', lineHeight: 1.3 }}&gt;四大竞品各有软肋，我们以「轻 + 全 + 本地」切入&lt;/Text&gt;&#10;  &lt;Box style={{ height: 1, background: '#061F32', marginTop: 14, marginBottom: 22 }} /&gt;&#10;  &lt;Box style={{ flexDirection: 'row', flex: 1, gap: 14 }}&gt;&#10;    &lt;Box style={{ flex: 1, borderTop: '3px solid #061F32', paddingTop: 12 }}&gt;&#10;      &lt;Text style={{ fontSize: 16, fontWeight: 'bold', color: '#061F32' }}&gt;传统 GIS 厂商&lt;/Text&gt;&#10;      &lt;Text style={{ fontSize: 12.5, color: '#16a34a', marginTop: 6 }}&gt;优势：专业能力强&lt;/Text&gt;&#10;      &lt;Text style={{ fontSize: 12.5, color: '#dc2626', marginTop: 2 }}&gt;软肋：交互重、价格高、C 端弱&lt;/Text&gt;&#10;    &lt;/Box&gt;&#10;    &lt;Box style={{ flex: 1, borderTop: '3px solid #001965', paddingTop: 12 }}&gt;&#10;      &lt;Text style={{ fontSize: 16, fontWeight: 'bold', color: '#061F32' }}&gt;大厂城市大脑&lt;/Text&gt;&#10;      &lt;Text style={{ fontSize: 12.5, color: '#16a34a', marginTop: 6 }}&gt;优势：资源多&lt;/Text&gt;&#10;      &lt;Text style={{ fontSize: 12.5, color: '#dc2626', marginTop: 2 }}&gt;软肋：重资产、周期长、下沉弱&lt;/Text&gt;&#10;    &lt;/Box&gt;&#10;    &lt;Box style={{ flex: 1, borderTop: '3px solid #08A6F6', paddingTop: 12 }}&gt;&#10;      &lt;Text style={{ fontSize: 16, fontWeight: 'bold', color: '#061F32' }}&gt;垂直服务商&lt;/Text&gt;&#10;      &lt;Text style={{ fontSize: 12.5, color: '#16a34a', marginTop: 6 }}&gt;优势：单点深入&lt;/Text&gt;&#10;      &lt;Text style={{ fontSize: 12.5, color: '#dc2626', marginTop: 2 }}&gt;软肋：场景单一、无统一入口&lt;/Text&gt;&#10;    &lt;/Box&gt;&#10;    &lt;Box style={{ flex: 1, borderTop: '3px solid #99BDED', paddingTop: 12 }}&gt;&#10;      &lt;Text style={{ fontSize: 16, fontWeight: 'bold', color: '#061F32' }}&gt;同类 AI 空间产品&lt;/Text&gt;&#10;      &lt;Text style={{ fontSize: 12.5, color: '#16a34a', marginTop: 6 }}&gt;现状：数量少&lt;/Text&gt;&#10;      &lt;Text style={{ fontSize: 12.5, color: '#dc2626', marginTop: 2 }}&gt;软肋：本地化不足、覆盖不全&lt;/Text&gt;&#10;    &lt;/Box&gt;&#10;  &lt;/Box&gt;&#10;  &lt;Box style={{ flexDirection: 'row', gap: 14, marginTop: 20 }}&gt;&#10;    &lt;Box style={{ flex: 1, background: '#061F32', borderRadius: 8, padding: 14, alignItems: 'center' }}&gt;&#10;      &lt;Text style={{ fontSize: 20, fontWeight: 'bold', color: '#08A6F6' }}&gt;体验壁垒&lt;/Text&gt;&#10;      &lt;Text style={{ fontSize: 12, color: '#99BDED', marginTop: 4, textAlign: 'center' }}&gt;零门槛自然语言&lt;/Text&gt;&#10;    &lt;/Box&gt;&#10;    &lt;Box style={{ flex: 1, background: '#061F32', borderRadius: 8, padding: 14, alignItems: 'center' }}&gt;&#10;      &lt;Text style={{ fontSize: 20, fontWeight: 'bold', color: '#08A6F6' }}&gt;成本壁垒&lt;/Text&gt;&#10;      &lt;Text style={{ fontSize: 12, color: '#99BDED', marginTop: 4, textAlign: 'center' }}&gt;价格仅 1/10&lt;/Text&gt;&#10;    &lt;/Box&gt;&#10;    &lt;Box style={{ flex: 1, background: '#061F32', borderRadius: 8, padding: 14, alignItems: 'center' }}&gt;&#10;      &lt;Text style={{ fontSize: 20, fontWeight: 'bold', color: '#08A6F6' }}&gt;场景壁垒&lt;/Text&gt;&#10;      &lt;Text style={{ fontSize: 12, color: '#99BDED', marginTop: 4, textAlign: 'center' }}&gt;99 项场景护城河&lt;/Text&gt;&#10;    &lt;/Box&gt;&#10;    &lt;Box style={{ flex: 1, background: '#061F32', borderRadius: 8, padding: 14, alignItems: 'center' }}&gt;&#10;      &lt;Text style={{ fontSize: 20, fontWeight: 'bold', color: '#08A6F6' }}&gt;本地化壁垒&lt;/Text&gt;&#10;      &lt;Text style={{ fontSize: 12, color: '#99BDED', marginTop: 4, textAlign: 'center' }}&gt;数据细、响应快&lt;/Text&gt;&#10;    &lt;/Box&gt;&#10;  &lt;/Box&gt;&#10;  &lt;Box style={{ flexDirection: 'row', justifyContent: 'space-between', marginTop: 16 }}&gt;&#10;    &lt;Text style={{ fontSize: 13, color: '#808080' }}&gt;判断：避开重资产正面竞争，用轻资产 + 全场景 + 本地化错位切入&lt;/Text&gt;&#10;    &lt;Text style={{ fontSize: 14, color: '#808080' }}&gt;17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四大竞品各有软肋，我们以「轻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全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+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本地」切入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533400" y="1323975"/>
            <a:ext cx="2686050" cy="4000500"/>
          </a:xfrm>
          <a:custGeom>
            <a:pathLst>
              <a:path w="282" h="420">
                <a:moveTo>
                  <a:pt x="0" y="0"/>
                </a:moveTo>
                <a:lnTo>
                  <a:pt x="282" y="0"/>
                </a:lnTo>
                <a:lnTo>
                  <a:pt x="282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533400" y="14668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传统</a:t>
            </a:r>
            <a:r>
              <a:rPr lang="en-US" sz="1200" b="1">
                <a:solidFill>
                  <a:srgbClr val="061F32"/>
                </a:solidFill>
                <a:latin typeface="Microsoft YaHei"/>
                <a:ea typeface="Microsoft YaHei"/>
              </a:rPr>
              <a:t> GIS </a:t>
            </a: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厂商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33400" y="1714500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16A34A"/>
                </a:solidFill>
                <a:latin typeface="Microsoft YaHei"/>
                <a:ea typeface="Microsoft YaHei"/>
              </a:rPr>
              <a:t>优势：专业能力强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33400" y="187642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DC2626"/>
                </a:solidFill>
                <a:latin typeface="Microsoft YaHei"/>
                <a:ea typeface="Microsoft YaHei"/>
              </a:rPr>
              <a:t>软肋：交互重、价格高、</a:t>
            </a:r>
            <a:r>
              <a:rPr lang="en-US" sz="938">
                <a:solidFill>
                  <a:srgbClr val="DC2626"/>
                </a:solidFill>
                <a:latin typeface="Microsoft YaHei"/>
                <a:ea typeface="Microsoft YaHei"/>
              </a:rPr>
              <a:t>C </a:t>
            </a:r>
            <a:r>
              <a:rPr lang="zh-CN" sz="938">
                <a:solidFill>
                  <a:srgbClr val="DC2626"/>
                </a:solidFill>
                <a:latin typeface="Microsoft YaHei"/>
                <a:ea typeface="Microsoft YaHei"/>
              </a:rPr>
              <a:t>端弱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3352800" y="1323975"/>
            <a:ext cx="2676525" cy="4000500"/>
          </a:xfrm>
          <a:custGeom>
            <a:pathLst>
              <a:path w="281" h="420">
                <a:moveTo>
                  <a:pt x="0" y="0"/>
                </a:moveTo>
                <a:lnTo>
                  <a:pt x="281" y="0"/>
                </a:lnTo>
                <a:lnTo>
                  <a:pt x="281" y="3"/>
                </a:lnTo>
                <a:lnTo>
                  <a:pt x="0" y="3"/>
                </a:lnTo>
                <a:close/>
              </a:path>
            </a:pathLst>
          </a:custGeom>
          <a:solidFill>
            <a:srgbClr val="001965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352800" y="1466850"/>
            <a:ext cx="2676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大厂城市大脑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3352800" y="1714500"/>
            <a:ext cx="2676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16A34A"/>
                </a:solidFill>
                <a:latin typeface="Microsoft YaHei"/>
                <a:ea typeface="Microsoft YaHei"/>
              </a:rPr>
              <a:t>优势：资源多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3352800" y="1876425"/>
            <a:ext cx="2676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DC2626"/>
                </a:solidFill>
                <a:latin typeface="Microsoft YaHei"/>
                <a:ea typeface="Microsoft YaHei"/>
              </a:rPr>
              <a:t>软肋：重资产、周期长、下沉弱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162675" y="1323975"/>
            <a:ext cx="2686050" cy="4000500"/>
          </a:xfrm>
          <a:custGeom>
            <a:pathLst>
              <a:path w="282" h="420">
                <a:moveTo>
                  <a:pt x="0" y="0"/>
                </a:moveTo>
                <a:lnTo>
                  <a:pt x="282" y="0"/>
                </a:lnTo>
                <a:lnTo>
                  <a:pt x="282" y="3"/>
                </a:lnTo>
                <a:lnTo>
                  <a:pt x="0" y="3"/>
                </a:lnTo>
                <a:close/>
              </a:path>
            </a:pathLst>
          </a:custGeom>
          <a:solidFill>
            <a:srgbClr val="08A6F6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162675" y="1466850"/>
            <a:ext cx="2686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垂直服务商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162675" y="1714500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16A34A"/>
                </a:solidFill>
                <a:latin typeface="Microsoft YaHei"/>
                <a:ea typeface="Microsoft YaHei"/>
              </a:rPr>
              <a:t>优势：单点深入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162675" y="1876425"/>
            <a:ext cx="2686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DC2626"/>
                </a:solidFill>
                <a:latin typeface="Microsoft YaHei"/>
                <a:ea typeface="Microsoft YaHei"/>
              </a:rPr>
              <a:t>软肋：场景单一、无统一入口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982075" y="1323975"/>
            <a:ext cx="2676525" cy="4000500"/>
          </a:xfrm>
          <a:custGeom>
            <a:pathLst>
              <a:path w="281" h="420">
                <a:moveTo>
                  <a:pt x="0" y="0"/>
                </a:moveTo>
                <a:lnTo>
                  <a:pt x="281" y="0"/>
                </a:lnTo>
                <a:lnTo>
                  <a:pt x="281" y="3"/>
                </a:lnTo>
                <a:lnTo>
                  <a:pt x="0" y="3"/>
                </a:lnTo>
                <a:close/>
              </a:path>
            </a:pathLst>
          </a:custGeom>
          <a:solidFill>
            <a:srgbClr val="99BDED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982075" y="1466850"/>
            <a:ext cx="2676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同类</a:t>
            </a:r>
            <a:r>
              <a:rPr lang="en-US" sz="1200" b="1">
                <a:solidFill>
                  <a:srgbClr val="061F32"/>
                </a:solidFill>
                <a:latin typeface="Microsoft YaHei"/>
                <a:ea typeface="Microsoft YaHei"/>
              </a:rPr>
              <a:t> AI </a:t>
            </a:r>
            <a:r>
              <a:rPr lang="zh-CN" sz="1200" b="1">
                <a:solidFill>
                  <a:srgbClr val="061F32"/>
                </a:solidFill>
                <a:latin typeface="Microsoft YaHei"/>
                <a:ea typeface="Microsoft YaHei"/>
              </a:rPr>
              <a:t>空间产品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982075" y="1714500"/>
            <a:ext cx="2676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16A34A"/>
                </a:solidFill>
                <a:latin typeface="Microsoft YaHei"/>
                <a:ea typeface="Microsoft YaHei"/>
              </a:rPr>
              <a:t>现状：数量少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982075" y="1876425"/>
            <a:ext cx="2676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DC2626"/>
                </a:solidFill>
                <a:latin typeface="Microsoft YaHei"/>
                <a:ea typeface="Microsoft YaHei"/>
              </a:rPr>
              <a:t>软肋：本地化不足、覆盖不全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533400" y="5486400"/>
            <a:ext cx="2686050" cy="676275"/>
          </a:xfrm>
          <a:prstGeom prst="roundRect">
            <a:avLst>
              <a:gd name="adj" fmla="val 11268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495425" y="56197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A6F6"/>
                </a:solidFill>
                <a:latin typeface="Microsoft YaHei"/>
                <a:ea typeface="Microsoft YaHei"/>
              </a:rPr>
              <a:t>体验壁垒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476375" y="5886450"/>
            <a:ext cx="800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9BDED"/>
                </a:solidFill>
                <a:latin typeface="Microsoft YaHei"/>
                <a:ea typeface="Microsoft YaHei"/>
              </a:rPr>
              <a:t>零门槛自然语言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3352800" y="5486400"/>
            <a:ext cx="2676525" cy="676275"/>
          </a:xfrm>
          <a:prstGeom prst="roundRect">
            <a:avLst>
              <a:gd name="adj" fmla="val 11268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314825" y="56197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A6F6"/>
                </a:solidFill>
                <a:latin typeface="Microsoft YaHei"/>
                <a:ea typeface="Microsoft YaHei"/>
              </a:rPr>
              <a:t>成本壁垒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381500" y="5886450"/>
            <a:ext cx="6286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9BDED"/>
                </a:solidFill>
                <a:latin typeface="Microsoft YaHei"/>
                <a:ea typeface="Microsoft YaHei"/>
              </a:rPr>
              <a:t>价格仅</a:t>
            </a:r>
            <a:r>
              <a:rPr lang="en-US" sz="900">
                <a:solidFill>
                  <a:srgbClr val="99BDED"/>
                </a:solidFill>
                <a:latin typeface="Microsoft YaHei"/>
                <a:ea typeface="Microsoft YaHei"/>
              </a:rPr>
              <a:t> 1/10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162675" y="5486400"/>
            <a:ext cx="2686050" cy="676275"/>
          </a:xfrm>
          <a:prstGeom prst="roundRect">
            <a:avLst>
              <a:gd name="adj" fmla="val 11268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124700" y="56197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A6F6"/>
                </a:solidFill>
                <a:latin typeface="Microsoft YaHei"/>
                <a:ea typeface="Microsoft YaHei"/>
              </a:rPr>
              <a:t>场景壁垒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077075" y="5886450"/>
            <a:ext cx="8572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99BDED"/>
                </a:solidFill>
                <a:latin typeface="Microsoft YaHei"/>
                <a:ea typeface="Microsoft YaHei"/>
              </a:rPr>
              <a:t>99 </a:t>
            </a:r>
            <a:r>
              <a:rPr lang="zh-CN" sz="900">
                <a:solidFill>
                  <a:srgbClr val="99BDED"/>
                </a:solidFill>
                <a:latin typeface="Microsoft YaHei"/>
                <a:ea typeface="Microsoft YaHei"/>
              </a:rPr>
              <a:t>项场景护城河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982075" y="5486400"/>
            <a:ext cx="2676525" cy="676275"/>
          </a:xfrm>
          <a:prstGeom prst="roundRect">
            <a:avLst>
              <a:gd name="adj" fmla="val 11268"/>
            </a:avLst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9848850" y="56197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8A6F6"/>
                </a:solidFill>
                <a:latin typeface="Microsoft YaHei"/>
                <a:ea typeface="Microsoft YaHei"/>
              </a:rPr>
              <a:t>本地化壁垒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9925050" y="5886450"/>
            <a:ext cx="8001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9BDED"/>
                </a:solidFill>
                <a:latin typeface="Microsoft YaHei"/>
                <a:ea typeface="Microsoft YaHei"/>
              </a:rPr>
              <a:t>数据细、响应快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判断：避开重资产正面竞争，用轻资产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全场景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本地化错位切入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17 / 22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background: '#FFFFFF', padding: '52px 56px 40px' }}&gt;&#10;  &lt;Text style={{ fontSize: 32, fontWeight: 'bold', color: '#061F32', lineHeight: 1.3 }}&gt;四阶段推进，第 2 年单月盈亏平衡、第 3 年盈利&lt;/Text&gt;&#10;  &lt;Box style={{ height: 1, background: '#061F32', marginTop: 14, marginBottom: 22 }} /&gt;&#10;  &lt;Box style={{ flexDirection: 'row', flex: 1, gap: 14 }}&gt;&#10;    &lt;Box style={{ flex: 1, background: '#f4f7fb', borderRadius: 10, padding: 16 }}&gt;&#10;      &lt;Text style={{ fontSize: 13, fontWeight: 'bold', color: '#08A6F6' }}&gt;0–6 月&lt;/Text&gt;&#10;      &lt;Text style={{ fontSize: 17, fontWeight: 'bold', color: '#061F32', marginTop: 4 }}&gt;启动验证期&lt;/Text&gt;&#10;      &lt;Text style={{ fontSize: 12.5, color: '#44546A', lineHeight: 1.7, marginTop: 8 }}&gt;产品全量上线，1–2 个区县 / 部门试点，企业种子用户，首批付费客户。&lt;/Text&gt;&#10;    &lt;/Box&gt;&#10;    &lt;Box style={{ flex: 1, background: '#f4f7fb', borderRadius: 10, padding: 16 }}&gt;&#10;      &lt;Text style={{ fontSize: 13, fontWeight: 'bold', color: '#08A6F6' }}&gt;6–12 月&lt;/Text&gt;&#10;      &lt;Text style={{ fontSize: 17, fontWeight: 'bold', color: '#061F32', marginTop: 4 }}&gt;快速增长期&lt;/Text&gt;&#10;      &lt;Text style={{ fontSize: 12.5, color: '#44546A', lineHeight: 1.7, marginTop: 8 }}&gt;3+ 区县、5+ 委办局覆盖，企业会员破量，单月盈亏平衡。&lt;/Text&gt;&#10;    &lt;/Box&gt;&#10;    &lt;Box style={{ flex: 1, background: '#f4f7fb', borderRadius: 10, padding: 16 }}&gt;&#10;      &lt;Text style={{ fontSize: 13, fontWeight: 'bold', color: '#08A6F6' }}&gt;1–2 年&lt;/Text&gt;&#10;      &lt;Text style={{ fontSize: 17, fontWeight: 'bold', color: '#061F32', marginTop: 4 }}&gt;深耕成熟期&lt;/Text&gt;&#10;      &lt;Text style={{ fontSize: 12.5, color: '#44546A', lineHeight: 1.7, marginTop: 8 }}&gt;市区县街四级覆盖，增值服务占比提升，西安盈利，形成标准模板。&lt;/Text&gt;&#10;    &lt;/Box&gt;&#10;    &lt;Box style={{ flex: 1, background: '#f4f7fb', borderRadius: 10, padding: 16 }}&gt;&#10;      &lt;Text style={{ fontSize: 13, fontWeight: 'bold', color: '#08A6F6' }}&gt;2–3 年&lt;/Text&gt;&#10;      &lt;Text style={{ fontSize: 17, fontWeight: 'bold', color: '#061F32', marginTop: 4 }}&gt;区域扩张期&lt;/Text&gt;&#10;      &lt;Text style={{ fontSize: 12.5, color: '#44546A', lineHeight: 1.7, marginTop: 8 }}&gt;陕西全省复制，西北重点城市落地，区域合作伙伴体系搭建。&lt;/Text&gt;&#10;    &lt;/Box&gt;&#10;  &lt;/Box&gt;&#10;  &lt;Box style={{ flexDirection: 'row', justifyContent: 'space-between', marginTop: 18 }}&gt;&#10;    &lt;Text style={{ fontSize: 13, color: '#808080' }}&gt;判断：节奏清晰、可验证，每个阶段都有明确的里程碑与退出校验点&lt;/Text&gt;&#10;    &lt;Text style={{ fontSize: 14, color: '#808080' }}&gt;18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四阶段推进，第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年单月盈亏平衡、第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3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年盈利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197" name=""/>
          <p:cNvSpPr/>
          <p:nvPr/>
        </p:nvSpPr>
        <p:spPr>
          <a:xfrm rot="0" flipH="0" flipV="0">
            <a:off x="533400" y="1323975"/>
            <a:ext cx="2686050" cy="4819650"/>
          </a:xfrm>
          <a:prstGeom prst="roundRect">
            <a:avLst>
              <a:gd name="adj" fmla="val 354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14763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A6F6"/>
                </a:solidFill>
                <a:latin typeface="Microsoft YaHei"/>
                <a:ea typeface="Microsoft YaHei"/>
              </a:rPr>
              <a:t>0–6 </a:t>
            </a:r>
            <a:r>
              <a:rPr lang="zh-CN" sz="975" b="1">
                <a:solidFill>
                  <a:srgbClr val="08A6F6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16668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启动验证期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1943100"/>
            <a:ext cx="2381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产品全量上线，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1–2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个区县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部门试点，企业种子用户，首批付费客户。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352800" y="1323975"/>
            <a:ext cx="2676525" cy="4819650"/>
          </a:xfrm>
          <a:prstGeom prst="roundRect">
            <a:avLst>
              <a:gd name="adj" fmla="val 355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505200" y="147637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A6F6"/>
                </a:solidFill>
                <a:latin typeface="Microsoft YaHei"/>
                <a:ea typeface="Microsoft YaHei"/>
              </a:rPr>
              <a:t>6–12 </a:t>
            </a:r>
            <a:r>
              <a:rPr lang="zh-CN" sz="975" b="1">
                <a:solidFill>
                  <a:srgbClr val="08A6F6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505200" y="1666875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快速增长期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3505200" y="1943100"/>
            <a:ext cx="23717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3+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区县、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5+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委办局覆盖，企业会员破量，单月盈亏平衡。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162675" y="1323975"/>
            <a:ext cx="2686050" cy="4819650"/>
          </a:xfrm>
          <a:prstGeom prst="roundRect">
            <a:avLst>
              <a:gd name="adj" fmla="val 354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315075" y="1476375"/>
            <a:ext cx="2381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A6F6"/>
                </a:solidFill>
                <a:latin typeface="Microsoft YaHei"/>
                <a:ea typeface="Microsoft YaHei"/>
              </a:rPr>
              <a:t>1–2 </a:t>
            </a:r>
            <a:r>
              <a:rPr lang="zh-CN" sz="975" b="1">
                <a:solidFill>
                  <a:srgbClr val="08A6F6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315075" y="1666875"/>
            <a:ext cx="2381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深耕成熟期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315075" y="1943100"/>
            <a:ext cx="2381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市区县街四级覆盖，增值服务占比提升，西安盈利，形成标准模板。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8982075" y="1323975"/>
            <a:ext cx="2676525" cy="4819650"/>
          </a:xfrm>
          <a:prstGeom prst="roundRect">
            <a:avLst>
              <a:gd name="adj" fmla="val 355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9134475" y="1476375"/>
            <a:ext cx="2371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08A6F6"/>
                </a:solidFill>
                <a:latin typeface="Microsoft YaHei"/>
                <a:ea typeface="Microsoft YaHei"/>
              </a:rPr>
              <a:t>2–3 </a:t>
            </a:r>
            <a:r>
              <a:rPr lang="zh-CN" sz="975" b="1">
                <a:solidFill>
                  <a:srgbClr val="08A6F6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9134475" y="1666875"/>
            <a:ext cx="2371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61F32"/>
                </a:solidFill>
                <a:latin typeface="Microsoft YaHei"/>
                <a:ea typeface="Microsoft YaHei"/>
              </a:rPr>
              <a:t>区域扩张期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9134475" y="1943100"/>
            <a:ext cx="23717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陕西全省复制，西北重点城市落地，区域合作伙伴体系搭建。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3714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判断：节奏清晰、可验证，每个阶段都有明确的里程碑与退出校验点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18 / 22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style={{ background: '#FFFFFF', padding: '52px 56px 40px' }}&gt;&#10;  &lt;Text style={{ fontSize: 32, fontWeight: 'bold', color: '#061F32', lineHeight: 1.3 }}&gt;量化成效：效率提升 60%–200%，决策周期压缩 10 倍&lt;/Text&gt;&#10;  &lt;Box style={{ height: 1, background: '#061F32', marginTop: 14, marginBottom: 22 }} /&gt;&#10;  &lt;Box style={{ flexDirection: 'row', flex: 1, gap: 16 }}&gt;&#10;    &lt;Box style={{ flex: 1, background: '#f4f7fb', borderRadius: 10, padding: 16 }}&gt;&#10;      &lt;Text style={{ fontSize: 14, fontWeight: 'bold', color: '#001965' }}&gt;政府治理端&lt;/Text&gt;&#10;      &lt;Box style={{ marginTop: 10 }}&gt;&#10;        &lt;Text style={{ fontSize: 34, fontWeight: 'bold', color: '#16a34a', lineHeight: 1 }}&gt;+60%&lt;/Text&gt;&#10;        &lt;Text style={{ fontSize: 12.5, color: '#44546A' }}&gt;巡检效率提升，人工成本降 40%&lt;/Text&gt;&#10;      &lt;/Box&gt;&#10;      &lt;Box style={{ marginTop: 10 }}&gt;&#10;        &lt;Text style={{ fontSize: 34, fontWeight: 'bold', color: '#16a34a', lineHeight: 1 }}&gt;+80%&lt;/Text&gt;&#10;        &lt;Text style={{ fontSize: 12.5, color: '#44546A' }}&gt;专项分析效率，周期从周级到小时级&lt;/Text&gt;&#10;      &lt;/Box&gt;&#10;    &lt;/Box&gt;&#10;    &lt;Box style={{ flex: 1, background: '#f4f7fb', borderRadius: 10, padding: 16 }}&gt;&#10;      &lt;Text style={{ fontSize: 14, fontWeight: 'bold', color: '#001965' }}&gt;企业经营端&lt;/Text&gt;&#10;      &lt;Box style={{ marginTop: 10 }}&gt;&#10;        &lt;Text style={{ fontSize: 34, fontWeight: 'bold', color: '#2563eb', lineHeight: 1 }}&gt;30→3 天&lt;/Text&gt;&#10;        &lt;Text style={{ fontSize: 12.5, color: '#44546A' }}&gt;选址 / 政策决策周期&lt;/Text&gt;&#10;      &lt;/Box&gt;&#10;      &lt;Box style={{ marginTop: 10 }}&gt;&#10;        &lt;Text style={{ fontSize: 34, fontWeight: 'bold', color: '#2563eb', lineHeight: 1 }}&gt;90%+&lt;/Text&gt;&#10;        &lt;Text style={{ fontSize: 12.5, color: '#44546A' }}&gt;可申报政策覆盖率（原不足 30%）&lt;/Text&gt;&#10;      &lt;/Box&gt;&#10;    &lt;/Box&gt;&#10;    &lt;Box style={{ flex: 1, background: '#f4f7fb', borderRadius: 10, padding: 16 }}&gt;&#10;      &lt;Text style={{ fontSize: 14, fontWeight: 'bold', color: '#001965' }}&gt;商户 / 市民 / 游客&lt;/Text&gt;&#10;      &lt;Box style={{ marginTop: 10 }}&gt;&#10;        &lt;Text style={{ fontSize: 34, fontWeight: 'bold', color: '#d97706', lineHeight: 1 }}&gt;-80%&lt;/Text&gt;&#10;        &lt;Text style={{ fontSize: 12.5, color: '#44546A' }}&gt;商户合规办事跑腿时间&lt;/Text&gt;&#10;      &lt;/Box&gt;&#10;      &lt;Box style={{ marginTop: 10 }}&gt;&#10;        &lt;Text style={{ fontSize: 34, fontWeight: 'bold', color: '#d97706', lineHeight: 1 }}&gt;+200%&lt;/Text&gt;&#10;        &lt;Text style={{ fontSize: 12.5, color: '#44546A' }}&gt;市民信息获取效率；游客效率 +30%&lt;/Text&gt;&#10;      &lt;/Box&gt;&#10;    &lt;/Box&gt;&#10;  &lt;/Box&gt;&#10;  &lt;Box style={{ flexDirection: 'row', justifyContent: 'space-between', marginTop: 18 }}&gt;&#10;    &lt;Text style={{ fontSize: 13, color: '#808080' }}&gt;Source：产品方案测算，为预期目标值 · 判断：量化成效是政府立项与商业转化的核心抓手&lt;/Text&gt;&#10;    &lt;Text style={{ fontSize: 14, color: '#808080' }}&gt;19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量化成效：效率提升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60%–200%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，决策周期压缩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10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倍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19" name=""/>
          <p:cNvSpPr/>
          <p:nvPr/>
        </p:nvSpPr>
        <p:spPr>
          <a:xfrm rot="0" flipH="0" flipV="0">
            <a:off x="533400" y="1323975"/>
            <a:ext cx="3609975" cy="4819650"/>
          </a:xfrm>
          <a:prstGeom prst="roundRect">
            <a:avLst>
              <a:gd name="adj" fmla="val 263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85800" y="1476375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1965"/>
                </a:solidFill>
                <a:latin typeface="Microsoft YaHei"/>
                <a:ea typeface="Microsoft YaHei"/>
              </a:rPr>
              <a:t>政府治理端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85800" y="1733550"/>
            <a:ext cx="3305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A34A"/>
                </a:solidFill>
                <a:latin typeface="Microsoft YaHei"/>
                <a:ea typeface="Microsoft YaHei"/>
              </a:rPr>
              <a:t>+60%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2124075"/>
            <a:ext cx="3305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巡检效率提升，人工成本降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40%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85800" y="2362200"/>
            <a:ext cx="3305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6A34A"/>
                </a:solidFill>
                <a:latin typeface="Microsoft YaHei"/>
                <a:ea typeface="Microsoft YaHei"/>
              </a:rPr>
              <a:t>+80%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85800" y="2752725"/>
            <a:ext cx="3305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专项分析效率，周期从周级到小时级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295775" y="1323975"/>
            <a:ext cx="3600450" cy="4819650"/>
          </a:xfrm>
          <a:prstGeom prst="roundRect">
            <a:avLst>
              <a:gd name="adj" fmla="val 264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48175" y="1476375"/>
            <a:ext cx="3295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1965"/>
                </a:solidFill>
                <a:latin typeface="Microsoft YaHei"/>
                <a:ea typeface="Microsoft YaHei"/>
              </a:rPr>
              <a:t>企业经营端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48175" y="173355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Microsoft YaHei"/>
                <a:ea typeface="Microsoft YaHei"/>
              </a:rPr>
              <a:t>30→3 </a:t>
            </a:r>
            <a:r>
              <a:rPr lang="zh-CN" sz="2550" b="1">
                <a:solidFill>
                  <a:srgbClr val="2563EB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48175" y="2124075"/>
            <a:ext cx="3295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选址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/ 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政策决策周期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4448175" y="2362200"/>
            <a:ext cx="3295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563EB"/>
                </a:solidFill>
                <a:latin typeface="Microsoft YaHei"/>
                <a:ea typeface="Microsoft YaHei"/>
              </a:rPr>
              <a:t>90%+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448175" y="2752725"/>
            <a:ext cx="3295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可申报政策覆盖率（原不足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30%</a:t>
            </a: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8048625" y="1323975"/>
            <a:ext cx="3609975" cy="4819650"/>
          </a:xfrm>
          <a:prstGeom prst="roundRect">
            <a:avLst>
              <a:gd name="adj" fmla="val 2639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01025" y="1476375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01965"/>
                </a:solidFill>
                <a:latin typeface="Microsoft YaHei"/>
                <a:ea typeface="Microsoft YaHei"/>
              </a:rPr>
              <a:t>商户</a:t>
            </a:r>
            <a:r>
              <a:rPr lang="en-US" sz="1050" b="1">
                <a:solidFill>
                  <a:srgbClr val="001965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01965"/>
                </a:solidFill>
                <a:latin typeface="Microsoft YaHei"/>
                <a:ea typeface="Microsoft YaHei"/>
              </a:rPr>
              <a:t>市民</a:t>
            </a:r>
            <a:r>
              <a:rPr lang="en-US" sz="1050" b="1">
                <a:solidFill>
                  <a:srgbClr val="001965"/>
                </a:solidFill>
                <a:latin typeface="Microsoft YaHei"/>
                <a:ea typeface="Microsoft YaHei"/>
              </a:rPr>
              <a:t> / </a:t>
            </a:r>
            <a:r>
              <a:rPr lang="zh-CN" sz="1050" b="1">
                <a:solidFill>
                  <a:srgbClr val="001965"/>
                </a:solidFill>
                <a:latin typeface="Microsoft YaHei"/>
                <a:ea typeface="Microsoft YaHei"/>
              </a:rPr>
              <a:t>游客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01025" y="1733550"/>
            <a:ext cx="3305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7706"/>
                </a:solidFill>
                <a:latin typeface="Microsoft YaHei"/>
                <a:ea typeface="Microsoft YaHei"/>
              </a:rPr>
              <a:t>-80%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201025" y="2124075"/>
            <a:ext cx="3305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商户合规办事跑腿时间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201025" y="2362200"/>
            <a:ext cx="3305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D97706"/>
                </a:solidFill>
                <a:latin typeface="Microsoft YaHei"/>
                <a:ea typeface="Microsoft YaHei"/>
              </a:rPr>
              <a:t>+200%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201025" y="2752725"/>
            <a:ext cx="3305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44546A"/>
                </a:solidFill>
                <a:latin typeface="Microsoft YaHei"/>
                <a:ea typeface="Microsoft YaHei"/>
              </a:rPr>
              <a:t>市民信息获取效率；游客效率</a:t>
            </a:r>
            <a:r>
              <a:rPr lang="en-US" sz="938">
                <a:solidFill>
                  <a:srgbClr val="44546A"/>
                </a:solidFill>
                <a:latin typeface="Microsoft YaHei"/>
                <a:ea typeface="Microsoft YaHei"/>
              </a:rPr>
              <a:t> +30%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：产品方案测算，为预期目标值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判断：量化成效是政府立项与商业转化的核心抓手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19 / 22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r="http://schemas.openxmlformats.org/officeDocument/2006/relationships" xmlns:a="http://schemas.openxmlformats.org/drawingml/2006/main" xmlns:c="http://schemas.openxmlformats.org/drawingml/2006/chart">
  <p:cSld>
    <p:spTree>
      <p:nvGrpSpPr>
        <p:cNvPr id="258" name="" descr="&lt;Slide style={{ background: '#FFFFFF', padding: '52px 56px 40px' }}&gt;&#10;  &lt;Text style={{ fontSize: 32, fontWeight: 'bold', color: '#061F32', lineHeight: 1.3 }}&gt;3 年累计营收约 1.03 亿元，第 2 年跨过盈亏平衡点&lt;/Text&gt;&#10;  &lt;Box style={{ height: 1, background: '#061F32', marginTop: 14, marginBottom: 22 }} /&gt;&#10;  &lt;Box style={{ flexDirection: 'row', flex: 1, gap: 40 }}&gt;&#10;    &lt;Box style={{ flex: 3 }}&gt;&#10;      &lt;Chart&#10;        chartType='barChart'&#10;        barDirection='column'&#10;        style={{ flex: 1 }}&#10;        title='三年营收与净利润（万元，具体按实际填写）'&#10;        titleColor='#061F32'&#10;        showLegend={true}&#10;        showDataLabels={true}&#10;        axisColor='#808080'&#10;        dataLabelColor='#061F32'&#10;        legendColor='#44546A'&#10;        colors={['#001965', '#08A6F6']}&#10;        background='#FFFFFF'&#10;        data={[&#10;          ['年份', '营收', '净利润'],&#10;          ['第1年', 800, -400],&#10;          ['第2年', 3000, 100],&#10;          ['第3年', 6500, 900],&#10;        ]}&#10;      /&gt;&#10;    &lt;/Box&gt;&#10;    &lt;Box style={{ flex: 2, justifyContent: 'space-between', paddingVertical: 8 }}&gt;&#10;      &lt;Box&gt;&#10;        &lt;Text style={{ fontSize: 40, fontWeight: 'bold', color: '#061F32', lineHeight: 1 }}&gt;1.03亿&lt;/Text&gt;&#10;        &lt;Text style={{ fontSize: 15, color: '#44546A', marginTop: 6 }}&gt;3 年累计营收（具体按实际填写）&lt;/Text&gt;&#10;      &lt;/Box&gt;&#10;      &lt;Box&gt;&#10;        &lt;Text style={{ fontSize: 40, fontWeight: 'bold', color: '#001965', lineHeight: 1 }}&gt;第2年&lt;/Text&gt;&#10;        &lt;Text style={{ fontSize: 15, color: '#44546A', marginTop: 6 }}&gt;盈亏平衡时点（具体按实际填写）&lt;/Text&gt;&#10;      &lt;/Box&gt;&#10;      &lt;Box&gt;&#10;        &lt;Text style={{ fontSize: 40, fontWeight: 'bold', color: '#08A6F6', lineHeight: 1 }}&gt;+600万&lt;/Text&gt;&#10;        &lt;Text style={{ fontSize: 15, color: '#44546A', marginTop: 6 }}&gt;第 3 年累计现金流（具体按实际填写）&lt;/Text&gt;&#10;      &lt;/Box&gt;&#10;    &lt;/Box&gt;&#10;  &lt;/Box&gt;&#10;  &lt;Box style={{ flexDirection: 'row', justifyContent: 'space-between', marginTop: 14 }}&gt;&#10;    &lt;Text style={{ fontSize: 13, color: '#808080' }}&gt;Source：财务预测模型 · 判断：营收逐年攀升，第 2 年实现单月盈亏平衡（具体按实际填写）&lt;/Text&gt;&#10;    &lt;Text style={{ fontSize: 14, color: '#808080' }}&gt;20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3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年累计营收约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1.03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亿元，第</a:t>
            </a:r>
            <a:r>
              <a:rPr lang="en-US" sz="2400" b="1">
                <a:solidFill>
                  <a:srgbClr val="061F32"/>
                </a:solidFill>
                <a:latin typeface="Microsoft YaHei"/>
                <a:ea typeface="Microsoft YaHei"/>
              </a:rPr>
              <a:t> 2 </a:t>
            </a: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年跨过盈亏平衡点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graphicFrame>
        <p:nvGraphicFramePr>
          <p:cNvPr id="262" name="262"/>
          <p:cNvGraphicFramePr/>
          <p:nvPr/>
        </p:nvGraphicFramePr>
        <p:xfrm rot="0" flipH="0" flipV="0">
          <a:off x="533400" y="1323975"/>
          <a:ext cx="6448425" cy="4857750"/>
        </p:xfrm>
        <a:graphic>
          <a:graphicData uri="http://schemas.openxmlformats.org/drawingml/2006/chart">
            <c:chart r:id="rId0"/>
          </a:graphicData>
        </a:graphic>
      </p:graphicFrame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362825" y="1323975"/>
            <a:ext cx="429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61F32"/>
                </a:solidFill>
                <a:latin typeface="Microsoft YaHei"/>
                <a:ea typeface="Microsoft YaHei"/>
              </a:rPr>
              <a:t>1.03</a:t>
            </a:r>
            <a:r>
              <a:rPr lang="zh-CN" sz="3000" b="1">
                <a:solidFill>
                  <a:srgbClr val="061F32"/>
                </a:solidFill>
                <a:latin typeface="Microsoft YaHei"/>
                <a:ea typeface="Microsoft YaHei"/>
              </a:rPr>
              <a:t>亿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7362825" y="1838325"/>
            <a:ext cx="429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3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年累计营收（具体按实际填写）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362825" y="3409950"/>
            <a:ext cx="429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001965"/>
                </a:solidFill>
                <a:latin typeface="Microsoft YaHei"/>
                <a:ea typeface="Microsoft YaHei"/>
              </a:rPr>
              <a:t>第</a:t>
            </a:r>
            <a:r>
              <a:rPr lang="en-US" sz="3000" b="1">
                <a:solidFill>
                  <a:srgbClr val="001965"/>
                </a:solidFill>
                <a:latin typeface="Microsoft YaHei"/>
                <a:ea typeface="Microsoft YaHei"/>
              </a:rPr>
              <a:t>2</a:t>
            </a:r>
            <a:r>
              <a:rPr lang="zh-CN" sz="3000" b="1">
                <a:solidFill>
                  <a:srgbClr val="001965"/>
                </a:solidFill>
                <a:latin typeface="Microsoft YaHei"/>
                <a:ea typeface="Microsoft YaHei"/>
              </a:rPr>
              <a:t>年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362825" y="3924300"/>
            <a:ext cx="429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盈亏平衡时点（具体按实际填写）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7362825" y="5495925"/>
            <a:ext cx="42957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08A6F6"/>
                </a:solidFill>
                <a:latin typeface="Microsoft YaHei"/>
                <a:ea typeface="Microsoft YaHei"/>
              </a:rPr>
              <a:t>+600</a:t>
            </a:r>
            <a:r>
              <a:rPr lang="zh-CN" sz="3000" b="1">
                <a:solidFill>
                  <a:srgbClr val="08A6F6"/>
                </a:solidFill>
                <a:latin typeface="Microsoft YaHei"/>
                <a:ea typeface="Microsoft YaHei"/>
              </a:rPr>
              <a:t>万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362825" y="6010275"/>
            <a:ext cx="429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第</a:t>
            </a:r>
            <a:r>
              <a:rPr lang="en-US" sz="1125">
                <a:solidFill>
                  <a:srgbClr val="44546A"/>
                </a:solidFill>
                <a:latin typeface="Microsoft YaHei"/>
                <a:ea typeface="Microsoft YaHei"/>
              </a:rPr>
              <a:t> 3 </a:t>
            </a:r>
            <a:r>
              <a:rPr lang="zh-CN" sz="1125">
                <a:solidFill>
                  <a:srgbClr val="44546A"/>
                </a:solidFill>
                <a:latin typeface="Microsoft YaHei"/>
                <a:ea typeface="Microsoft YaHei"/>
              </a:rPr>
              <a:t>年累计现金流（具体按实际填写）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5114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Source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：财务预测模型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·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判断：营收逐年攀升，第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2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年实现单月盈亏平衡（具体按实际填写）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20 / 22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style={{ background: '#FFFFFF', padding: '52px 56px 40px' }}&gt;&#10;  &lt;Text style={{ fontSize: 32, fontWeight: 'bold', color: '#061F32', lineHeight: 1.3 }}&gt;六大风险可识别可管控，合规是底线&lt;/Text&gt;&#10;  &lt;Box style={{ height: 1, background: '#061F32', marginTop: 14, marginBottom: 22 }} /&gt;&#10;  &lt;Box style={{ flexDirection: 'row', flexWrap: 'wrap', flex: 1, gap: 12 }}&gt;&#10;    &lt;Box style={{ width: '32%', background: '#f4f7fb', borderRadius: 8, padding: 13 }}&gt;&#10;      &lt;Text style={{ fontSize: 14, fontWeight: 'bold', color: '#061F32' }}&gt;政策合规风险&lt;/Text&gt;&#10;      &lt;Text style={{ fontSize: 12, color: '#44546A', lineHeight: 1.6, marginTop: 4 }}&gt;仅用公开授权数据 + 季度合规审计&lt;/Text&gt;&#10;    &lt;/Box&gt;&#10;    &lt;Box style={{ width: '32%', background: '#f4f7fb', borderRadius: 8, padding: 13 }}&gt;&#10;      &lt;Text style={{ fontSize: 14, fontWeight: 'bold', color: '#061F32' }}&gt;市场竞争风险&lt;/Text&gt;&#10;      &lt;Text style={{ fontSize: 12, color: '#44546A', lineHeight: 1.6, marginTop: 4 }}&gt;强化场景与本地化壁垒、快速复制先发&lt;/Text&gt;&#10;    &lt;/Box&gt;&#10;    &lt;Box style={{ width: '32%', background: '#f4f7fb', borderRadius: 8, padding: 13 }}&gt;&#10;      &lt;Text style={{ fontSize: 14, fontWeight: 'bold', color: '#061F32' }}&gt;商业化不及预期&lt;/Text&gt;&#10;      &lt;Text style={{ fontSize: 12, color: '#44546A', lineHeight: 1.6, marginTop: 4 }}&gt;分层定价 + 免费获客、政府与会员双轮驱动&lt;/Text&gt;&#10;    &lt;/Box&gt;&#10;    &lt;Box style={{ width: '32%', background: '#f4f7fb', borderRadius: 8, padding: 13 }}&gt;&#10;      &lt;Text style={{ fontSize: 14, fontWeight: 'bold', color: '#061F32' }}&gt;数据质量风险&lt;/Text&gt;&#10;      &lt;Text style={{ fontSize: 12, color: '#44546A', lineHeight: 1.6, marginTop: 4 }}&gt;多源校验、异常标注、边界说明、更新机制&lt;/Text&gt;&#10;    &lt;/Box&gt;&#10;    &lt;Box style={{ width: '32%', background: '#f4f7fb', borderRadius: 8, padding: 13 }}&gt;&#10;      &lt;Text style={{ fontSize: 14, fontWeight: 'bold', color: '#061F32' }}&gt;技术风险&lt;/Text&gt;&#10;      &lt;Text style={{ fontSize: 12, color: '#44546A', lineHeight: 1.6, marginTop: 4 }}&gt;开源成熟栈 + 持续调优、模块化隔离降级&lt;/Text&gt;&#10;    &lt;/Box&gt;&#10;    &lt;Box style={{ width: '32%', background: '#f4f7fb', borderRadius: 8, padding: 13 }}&gt;&#10;      &lt;Text style={{ fontSize: 14, fontWeight: 'bold', color: '#061F32' }}&gt;项目交付风险&lt;/Text&gt;&#10;      &lt;Text style={{ fontSize: 12, color: '#44546A', lineHeight: 1.6, marginTop: 4 }}&gt;标准模板化交付、试点先行分批验收&lt;/Text&gt;&#10;    &lt;/Box&gt;&#10;  &lt;/Box&gt;&#10;  &lt;Box style={{ flexDirection: 'row', justifyContent: 'space-between', marginTop: 16 }}&gt;&#10;    &lt;Text style={{ fontSize: 13, color: '#808080' }}&gt;合规底线：全部数据来自官方公开渠道，不采集 / 不存储个人隐私与企业商业秘密数据&lt;/Text&gt;&#10;    &lt;Text style={{ fontSize: 14, color: '#808080' }}&gt;21 / 2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33400" y="495300"/>
            <a:ext cx="11125200" cy="4762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400" b="1">
                <a:solidFill>
                  <a:srgbClr val="061F32"/>
                </a:solidFill>
                <a:latin typeface="Microsoft YaHei"/>
                <a:ea typeface="Microsoft YaHei"/>
              </a:rPr>
              <a:t>六大风险可识别可管控，合规是底线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533400" y="1104900"/>
            <a:ext cx="11125200" cy="9525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533400" y="1323975"/>
            <a:ext cx="3562350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57225" y="14478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政策合规风险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57225" y="16478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仅用公开授权数据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季度合规审计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210050" y="1323975"/>
            <a:ext cx="3562350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4333875" y="14478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市场竞争风险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333875" y="16478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强化场景与本地化壁垒、快速复制先发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886700" y="1323975"/>
            <a:ext cx="3552825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8010525" y="1447800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商业化不及预期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8010525" y="1647825"/>
            <a:ext cx="33051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分层定价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免费获客、政府与会员双轮驱动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533400" y="3800475"/>
            <a:ext cx="3562350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657225" y="39243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数据质量风险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57225" y="41243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多源校验、异常标注、边界说明、更新机制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210050" y="3800475"/>
            <a:ext cx="3562350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4333875" y="3924300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技术风险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333875" y="4124325"/>
            <a:ext cx="3314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开源成熟栈</a:t>
            </a:r>
            <a:r>
              <a:rPr lang="en-US" sz="900">
                <a:solidFill>
                  <a:srgbClr val="44546A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持续调优、模块化隔离降级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7886700" y="3800475"/>
            <a:ext cx="3552825" cy="2362200"/>
          </a:xfrm>
          <a:prstGeom prst="roundRect">
            <a:avLst>
              <a:gd name="adj" fmla="val 3226"/>
            </a:avLst>
          </a:prstGeom>
          <a:solidFill>
            <a:srgbClr val="F4F7FB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010525" y="3924300"/>
            <a:ext cx="3305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61F32"/>
                </a:solidFill>
                <a:latin typeface="Microsoft YaHei"/>
                <a:ea typeface="Microsoft YaHei"/>
              </a:rPr>
              <a:t>项目交付风险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010525" y="4124325"/>
            <a:ext cx="33051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44546A"/>
                </a:solidFill>
                <a:latin typeface="Microsoft YaHei"/>
                <a:ea typeface="Microsoft YaHei"/>
              </a:rPr>
              <a:t>标准模板化交付、试点先行分批验收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33400" y="6315075"/>
            <a:ext cx="471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合规底线：全部数据来自官方公开渠道，不采集</a:t>
            </a:r>
            <a:r>
              <a:rPr lang="en-US" sz="975">
                <a:solidFill>
                  <a:srgbClr val="808080"/>
                </a:solidFill>
                <a:latin typeface="Microsoft YaHei"/>
                <a:ea typeface="Microsoft YaHei"/>
              </a:rPr>
              <a:t> / </a:t>
            </a:r>
            <a:r>
              <a:rPr lang="zh-CN" sz="975">
                <a:solidFill>
                  <a:srgbClr val="808080"/>
                </a:solidFill>
                <a:latin typeface="Microsoft YaHei"/>
                <a:ea typeface="Microsoft YaHei"/>
              </a:rPr>
              <a:t>不存储个人隐私与企业商业秘密数据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20140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08080"/>
                </a:solidFill>
                <a:latin typeface="Microsoft YaHei"/>
                <a:ea typeface="Microsoft YaHei"/>
              </a:rPr>
              <a:t>21 / 22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295" name="" descr="&lt;Slide style={{ background: '#061F32', padding: '64px 64px 56px' }}&gt;&#10;  &lt;Box style={{ flex: 1, justifyContent: 'center', alignItems: 'center' }}&gt;&#10;    &lt;Text style={{ fontSize: 15, color: '#08A6F6', letterSpacing: 5 }}&gt;THANKS&lt;/Text&gt;&#10;    &lt;Text style={{ fontSize: 62, fontWeight: 'bold', color: '#FFFFFF', letterSpacing: 3, marginTop: 20, textAlign: 'center' }}&gt;让城市空间决策{'\n'}零门槛、可量化、可复制&lt;/Text&gt;&#10;    &lt;Text style={{ fontSize: 20, color: '#99BDED', marginTop: 24, letterSpacing: 1 }}&gt;长安智策 · 西安城市决策空间智能平台&lt;/Text&gt;&#10;    &lt;Text style={{ fontSize: 15, color: '#5f7a99', marginTop: 12 }}&gt;诚邀合作 · 共筑公共数据运营「西安样本」&lt;/Text&gt;&#10;  &lt;/Box&gt;&#10;  &lt;Box style={{ flexDirection: 'row', justifyContent: 'center', borderTop: '1px solid rgba(255,255,255,0.18)', paddingTop: 20 }}&gt;&#10;    &lt;Text style={{ fontSize: 14, color: '#5f7a99' }}&gt;融资路演 · 立项申报 · 2026-09 · 商业机密仅供授权方审阅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61F32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5657850" y="2028825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75">
                <a:solidFill>
                  <a:srgbClr val="08A6F6"/>
                </a:solidFill>
                <a:latin typeface="Microsoft YaHei"/>
                <a:ea typeface="Microsoft YaHei"/>
              </a:rPr>
              <a:t>THANKS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2695575" y="2390775"/>
            <a:ext cx="6810375" cy="14192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650" b="1" spc="225">
                <a:solidFill>
                  <a:srgbClr val="FFFFFF"/>
                </a:solidFill>
                <a:latin typeface="Microsoft YaHei"/>
                <a:ea typeface="Microsoft YaHei"/>
              </a:rPr>
              <a:t>让城市空间决策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4650" b="1" spc="225">
                <a:solidFill>
                  <a:srgbClr val="FFFFFF"/>
                </a:solidFill>
                <a:latin typeface="Microsoft YaHei"/>
                <a:ea typeface="Microsoft YaHei"/>
              </a:rPr>
              <a:t>零门槛、可量化、可复制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400550" y="4038600"/>
            <a:ext cx="3390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长安智策</a:t>
            </a:r>
            <a:r>
              <a:rPr lang="en-US" sz="1500" spc="75">
                <a:solidFill>
                  <a:srgbClr val="99BDED"/>
                </a:solidFill>
                <a:latin typeface="Microsoft YaHei"/>
                <a:ea typeface="Microsoft YaHei"/>
              </a:rPr>
              <a:t> · </a:t>
            </a:r>
            <a:r>
              <a:rPr lang="zh-CN" sz="1500" spc="75">
                <a:solidFill>
                  <a:srgbClr val="99BDED"/>
                </a:solidFill>
                <a:latin typeface="Microsoft YaHei"/>
                <a:ea typeface="Microsoft YaHei"/>
              </a:rPr>
              <a:t>西安城市决策空间智能平台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752975" y="43815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F7A99"/>
                </a:solidFill>
                <a:latin typeface="Microsoft YaHei"/>
                <a:ea typeface="Microsoft YaHei"/>
              </a:rPr>
              <a:t>诚邀合作</a:t>
            </a:r>
            <a:r>
              <a:rPr lang="en-US" sz="1125">
                <a:solidFill>
                  <a:srgbClr val="5F7A99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5F7A99"/>
                </a:solidFill>
                <a:latin typeface="Microsoft YaHei"/>
                <a:ea typeface="Microsoft YaHei"/>
              </a:rPr>
              <a:t>共筑公共数据运营「西安样本」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5962650"/>
            <a:ext cx="10972800" cy="371475"/>
          </a:xfrm>
          <a:custGeom>
            <a:pathLst>
              <a:path w="1152" h="39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FFF">
              <a:alpha val="18000"/>
            </a:srgbClr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400550" y="6162675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F7A99"/>
                </a:solidFill>
                <a:latin typeface="Microsoft YaHei"/>
                <a:ea typeface="Microsoft YaHei"/>
              </a:rPr>
              <a:t>融资路演</a:t>
            </a:r>
            <a:r>
              <a:rPr lang="en-US" sz="1050">
                <a:solidFill>
                  <a:srgbClr val="5F7A99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5F7A99"/>
                </a:solidFill>
                <a:latin typeface="Microsoft YaHei"/>
                <a:ea typeface="Microsoft YaHei"/>
              </a:rPr>
              <a:t>立项申报</a:t>
            </a:r>
            <a:r>
              <a:rPr lang="en-US" sz="1050">
                <a:solidFill>
                  <a:srgbClr val="5F7A99"/>
                </a:solidFill>
                <a:latin typeface="Microsoft YaHei"/>
                <a:ea typeface="Microsoft YaHei"/>
              </a:rPr>
              <a:t> · 2026-09 · </a:t>
            </a:r>
            <a:r>
              <a:rPr lang="zh-CN" sz="1050">
                <a:solidFill>
                  <a:srgbClr val="5F7A99"/>
                </a:solidFill>
                <a:latin typeface="Microsoft YaHei"/>
                <a:ea typeface="Microsoft YaHei"/>
              </a:rPr>
              <a:t>商业机密仅供授权方审阅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2026-09-12T20:49:42Z</dcterms:created>
  <dcterms:modified xsi:type="dcterms:W3CDTF">2026-09-12T20:49:42Z</dcterms:modified>
</cp:coreProperties>
</file>